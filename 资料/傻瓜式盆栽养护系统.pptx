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256" r:id="rId3"/>
    <p:sldId id="257" r:id="rId5"/>
    <p:sldId id="258" r:id="rId6"/>
    <p:sldId id="259" r:id="rId7"/>
    <p:sldId id="260" r:id="rId8"/>
    <p:sldId id="280" r:id="rId9"/>
    <p:sldId id="261" r:id="rId10"/>
    <p:sldId id="262" r:id="rId11"/>
    <p:sldId id="281" r:id="rId12"/>
    <p:sldId id="263" r:id="rId13"/>
    <p:sldId id="264" r:id="rId14"/>
    <p:sldId id="265" r:id="rId15"/>
    <p:sldId id="266" r:id="rId16"/>
    <p:sldId id="267" r:id="rId17"/>
    <p:sldId id="282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/>
  <p:notesSz cx="6858000" cy="12192000"/>
  <p:embeddedFontLst>
    <p:embeddedFont>
      <p:font typeface="MiSans" panose="00000500000000000000" pitchFamily="34" charset="-122"/>
      <p:regular r:id="rId35"/>
    </p:embeddedFont>
    <p:embeddedFont>
      <p:font typeface="等线" panose="02010600030101010101" charset="-122"/>
      <p:regular r:id="rId36"/>
    </p:embeddedFont>
    <p:embeddedFont>
      <p:font typeface="Calibri" panose="020F0502020204030204" charset="0"/>
      <p:regular r:id="rId37"/>
      <p:bold r:id="rId38"/>
      <p:italic r:id="rId39"/>
      <p:boldItalic r:id="rId40"/>
    </p:embeddedFont>
    <p:embeddedFont>
      <p:font typeface="MiSans ExtraLight" panose="00000300000000000000" charset="-122"/>
      <p:bold r:id="rId4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font" Target="fonts/font7.fntdata"/><Relationship Id="rId4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5.fntdata"/><Relationship Id="rId38" Type="http://schemas.openxmlformats.org/officeDocument/2006/relationships/font" Target="fonts/font4.fntdata"/><Relationship Id="rId37" Type="http://schemas.openxmlformats.org/officeDocument/2006/relationships/font" Target="fonts/font3.fntdata"/><Relationship Id="rId36" Type="http://schemas.openxmlformats.org/officeDocument/2006/relationships/font" Target="fonts/font2.fntdata"/><Relationship Id="rId35" Type="http://schemas.openxmlformats.org/officeDocument/2006/relationships/font" Target="fonts/font1.fntdata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15440379"/>
            <a:ext cx="29718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image" Target="../media/image8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6" Type="http://schemas.openxmlformats.org/officeDocument/2006/relationships/notesSlide" Target="../notesSlides/notesSlide9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2.png"/><Relationship Id="rId13" Type="http://schemas.openxmlformats.org/officeDocument/2006/relationships/image" Target="../media/image11.png"/><Relationship Id="rId12" Type="http://schemas.openxmlformats.org/officeDocument/2006/relationships/image" Target="../media/image10.png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image" Target="../media/image8.png"/><Relationship Id="rId10" Type="http://schemas.openxmlformats.org/officeDocument/2006/relationships/notesSlide" Target="../notesSlides/notesSlide17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46:59-d0sho8s75iks832je3bg.png"/>
          <p:cNvPicPr>
            <a:picLocks noChangeAspect="1"/>
          </p:cNvPicPr>
          <p:nvPr/>
        </p:nvPicPr>
        <p:blipFill>
          <a:blip r:embed="rId2"/>
          <a:srcRect l="19730" r="18950"/>
          <a:stretch>
            <a:fillRect/>
          </a:stretch>
        </p:blipFill>
        <p:spPr>
          <a:xfrm>
            <a:off x="0" y="0"/>
            <a:ext cx="12204000" cy="689419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78660" y="2708275"/>
            <a:ext cx="8232775" cy="12179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傻瓜式盆栽养护系统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2374265" y="4438650"/>
            <a:ext cx="3322320" cy="12725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汇报人</a:t>
            </a:r>
            <a:r>
              <a:rPr lang="zh-CN" alt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：陈前</a:t>
            </a:r>
            <a:r>
              <a:rPr lang="en-US" altLang="zh-CN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   </a:t>
            </a:r>
            <a:r>
              <a:rPr lang="zh-CN" alt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卢治宇</a:t>
            </a:r>
            <a:r>
              <a:rPr lang="en-US" altLang="zh-CN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 </a:t>
            </a:r>
            <a:endParaRPr lang="en-US" altLang="zh-CN" sz="2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晏于吉</a:t>
            </a:r>
            <a:r>
              <a:rPr lang="en-US" altLang="zh-CN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    </a:t>
            </a:r>
            <a:r>
              <a:rPr lang="zh-CN" alt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王博</a:t>
            </a:r>
            <a:r>
              <a:rPr lang="en-US" altLang="zh-CN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   </a:t>
            </a:r>
            <a:r>
              <a:rPr lang="zh-CN" alt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明新愉</a:t>
            </a:r>
            <a:endParaRPr lang="zh-CN" altLang="en-US" sz="2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</p:txBody>
      </p:sp>
      <p:sp>
        <p:nvSpPr>
          <p:cNvPr id="8" name="Text 4"/>
          <p:cNvSpPr/>
          <p:nvPr/>
        </p:nvSpPr>
        <p:spPr>
          <a:xfrm>
            <a:off x="6656705" y="4438650"/>
            <a:ext cx="3353435" cy="8312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专业：电子信息工程</a:t>
            </a:r>
            <a:endParaRPr lang="zh-CN" altLang="en-US" sz="2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</p:txBody>
      </p:sp>
      <p:sp>
        <p:nvSpPr>
          <p:cNvPr id="9" name="Shape 5"/>
          <p:cNvSpPr/>
          <p:nvPr/>
        </p:nvSpPr>
        <p:spPr>
          <a:xfrm>
            <a:off x="6320155" y="448691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0" y="133350"/>
                </a:moveTo>
                <a:cubicBezTo>
                  <a:pt x="0" y="59699"/>
                  <a:pt x="59699" y="0"/>
                  <a:pt x="133350" y="0"/>
                </a:cubicBezTo>
                <a:cubicBezTo>
                  <a:pt x="177800" y="0"/>
                  <a:pt x="222250" y="0"/>
                  <a:pt x="266700" y="0"/>
                </a:cubicBezTo>
                <a:cubicBezTo>
                  <a:pt x="266700" y="44450"/>
                  <a:pt x="266700" y="88900"/>
                  <a:pt x="266700" y="133350"/>
                </a:cubicBezTo>
                <a:cubicBezTo>
                  <a:pt x="266700" y="207001"/>
                  <a:pt x="207001" y="266700"/>
                  <a:pt x="133350" y="266700"/>
                </a:cubicBezTo>
                <a:cubicBezTo>
                  <a:pt x="59699" y="266700"/>
                  <a:pt x="0" y="207001"/>
                  <a:pt x="0" y="13335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38000">
                <a:srgbClr val="EA7893"/>
              </a:gs>
              <a:gs pos="100000">
                <a:srgbClr val="E34A6E"/>
              </a:gs>
            </a:gsLst>
            <a:lin ang="5400000" scaled="1"/>
          </a:gradFill>
        </p:spPr>
      </p:sp>
      <p:sp>
        <p:nvSpPr>
          <p:cNvPr id="10" name="Text 6"/>
          <p:cNvSpPr/>
          <p:nvPr/>
        </p:nvSpPr>
        <p:spPr>
          <a:xfrm>
            <a:off x="6320155" y="4486910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013585" y="448691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0" y="133350"/>
                </a:moveTo>
                <a:cubicBezTo>
                  <a:pt x="0" y="59699"/>
                  <a:pt x="59699" y="0"/>
                  <a:pt x="133350" y="0"/>
                </a:cubicBezTo>
                <a:cubicBezTo>
                  <a:pt x="177800" y="0"/>
                  <a:pt x="222250" y="0"/>
                  <a:pt x="266700" y="0"/>
                </a:cubicBezTo>
                <a:cubicBezTo>
                  <a:pt x="266700" y="44450"/>
                  <a:pt x="266700" y="88900"/>
                  <a:pt x="266700" y="133350"/>
                </a:cubicBezTo>
                <a:cubicBezTo>
                  <a:pt x="266700" y="207001"/>
                  <a:pt x="207001" y="266700"/>
                  <a:pt x="133350" y="266700"/>
                </a:cubicBezTo>
                <a:cubicBezTo>
                  <a:pt x="59699" y="266700"/>
                  <a:pt x="0" y="207001"/>
                  <a:pt x="0" y="13335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38000">
                <a:srgbClr val="EA7893"/>
              </a:gs>
              <a:gs pos="100000">
                <a:srgbClr val="E34A6E"/>
              </a:gs>
            </a:gsLst>
            <a:lin ang="5400000" scaled="1"/>
          </a:gradFill>
        </p:spPr>
      </p:sp>
      <p:sp>
        <p:nvSpPr>
          <p:cNvPr id="12" name="Text 8"/>
          <p:cNvSpPr/>
          <p:nvPr/>
        </p:nvSpPr>
        <p:spPr>
          <a:xfrm>
            <a:off x="2075815" y="4438650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27355" y="297180"/>
            <a:ext cx="191516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7" t="13487" r="31249" b="25364"/>
          <a:stretch>
            <a:fillRect/>
          </a:stretch>
        </p:blipFill>
        <p:spPr>
          <a:xfrm>
            <a:off x="5121307" y="718579"/>
            <a:ext cx="2016023" cy="1892620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2280285" y="5711190"/>
            <a:ext cx="3353435" cy="8312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marL="0" indent="0" algn="l">
              <a:lnSpc>
                <a:spcPct val="100000"/>
              </a:lnSpc>
              <a:buNone/>
            </a:pPr>
            <a:r>
              <a:rPr lang="en-US" altLang="zh-CN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+mn-ea"/>
              </a:rPr>
              <a:t> </a:t>
            </a:r>
            <a:r>
              <a:rPr lang="zh-CN" alt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+mn-ea"/>
              </a:rPr>
              <a:t>专业：电子信息工程</a:t>
            </a:r>
            <a:endParaRPr lang="zh-CN" altLang="en-US" sz="2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+mn-ea"/>
            </a:endParaRPr>
          </a:p>
        </p:txBody>
      </p:sp>
      <p:sp>
        <p:nvSpPr>
          <p:cNvPr id="16" name="Text 6"/>
          <p:cNvSpPr/>
          <p:nvPr/>
        </p:nvSpPr>
        <p:spPr>
          <a:xfrm>
            <a:off x="6447155" y="4613910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7"/>
          <p:cNvSpPr/>
          <p:nvPr/>
        </p:nvSpPr>
        <p:spPr>
          <a:xfrm>
            <a:off x="2013585" y="571119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0" y="133350"/>
                </a:moveTo>
                <a:cubicBezTo>
                  <a:pt x="0" y="59699"/>
                  <a:pt x="59699" y="0"/>
                  <a:pt x="133350" y="0"/>
                </a:cubicBezTo>
                <a:cubicBezTo>
                  <a:pt x="177800" y="0"/>
                  <a:pt x="222250" y="0"/>
                  <a:pt x="266700" y="0"/>
                </a:cubicBezTo>
                <a:cubicBezTo>
                  <a:pt x="266700" y="44450"/>
                  <a:pt x="266700" y="88900"/>
                  <a:pt x="266700" y="133350"/>
                </a:cubicBezTo>
                <a:cubicBezTo>
                  <a:pt x="266700" y="207001"/>
                  <a:pt x="207001" y="266700"/>
                  <a:pt x="133350" y="266700"/>
                </a:cubicBezTo>
                <a:cubicBezTo>
                  <a:pt x="59699" y="266700"/>
                  <a:pt x="0" y="207001"/>
                  <a:pt x="0" y="13335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38000">
                <a:srgbClr val="EA7893"/>
              </a:gs>
              <a:gs pos="100000">
                <a:srgbClr val="E34A6E"/>
              </a:gs>
            </a:gsLst>
            <a:lin ang="5400000" scaled="1"/>
          </a:gradFill>
        </p:spPr>
      </p:sp>
      <p:sp>
        <p:nvSpPr>
          <p:cNvPr id="19" name="Shape 7"/>
          <p:cNvSpPr/>
          <p:nvPr/>
        </p:nvSpPr>
        <p:spPr>
          <a:xfrm>
            <a:off x="6320155" y="571119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0" y="133350"/>
                </a:moveTo>
                <a:cubicBezTo>
                  <a:pt x="0" y="59699"/>
                  <a:pt x="59699" y="0"/>
                  <a:pt x="133350" y="0"/>
                </a:cubicBezTo>
                <a:cubicBezTo>
                  <a:pt x="177800" y="0"/>
                  <a:pt x="222250" y="0"/>
                  <a:pt x="266700" y="0"/>
                </a:cubicBezTo>
                <a:cubicBezTo>
                  <a:pt x="266700" y="44450"/>
                  <a:pt x="266700" y="88900"/>
                  <a:pt x="266700" y="133350"/>
                </a:cubicBezTo>
                <a:cubicBezTo>
                  <a:pt x="266700" y="207001"/>
                  <a:pt x="207001" y="266700"/>
                  <a:pt x="133350" y="266700"/>
                </a:cubicBezTo>
                <a:cubicBezTo>
                  <a:pt x="59699" y="266700"/>
                  <a:pt x="0" y="207001"/>
                  <a:pt x="0" y="13335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38000">
                <a:srgbClr val="EA7893"/>
              </a:gs>
              <a:gs pos="100000">
                <a:srgbClr val="E34A6E"/>
              </a:gs>
            </a:gsLst>
            <a:lin ang="5400000" scaled="1"/>
          </a:gradFill>
        </p:spPr>
      </p:sp>
      <p:sp>
        <p:nvSpPr>
          <p:cNvPr id="22" name="文本框 21"/>
          <p:cNvSpPr txBox="1"/>
          <p:nvPr/>
        </p:nvSpPr>
        <p:spPr>
          <a:xfrm>
            <a:off x="6586855" y="5648325"/>
            <a:ext cx="31070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+mn-ea"/>
              </a:rPr>
              <a:t>指导教师：刘文秀</a:t>
            </a:r>
            <a:endParaRPr lang="zh-CN" altLang="en-US" sz="2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+mn-ea"/>
            </a:endParaRPr>
          </a:p>
          <a:p>
            <a:endParaRPr lang="zh-CN" alt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47:04-d0shoa475iks832je3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4000" cy="6894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8233" y="603226"/>
            <a:ext cx="6630354" cy="7366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目录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836295" y="3747135"/>
            <a:ext cx="0" cy="1979930"/>
          </a:xfrm>
          <a:prstGeom prst="line">
            <a:avLst/>
          </a:prstGeom>
          <a:noFill/>
          <a:ln w="12700">
            <a:gradFill flip="none" rotWithShape="1">
              <a:gsLst>
                <a:gs pos="0">
                  <a:srgbClr val="EE0447"/>
                </a:gs>
                <a:gs pos="100000">
                  <a:srgbClr val="E34A6E">
                    <a:alpha val="0"/>
                  </a:srgbClr>
                </a:gs>
              </a:gsLst>
              <a:lin ang="5400000" scaled="1"/>
            </a:gradFill>
            <a:prstDash val="dash"/>
            <a:headEnd type="oval"/>
            <a:tailEnd type="none"/>
          </a:ln>
        </p:spPr>
      </p:sp>
      <p:sp>
        <p:nvSpPr>
          <p:cNvPr id="8" name="Text 4"/>
          <p:cNvSpPr/>
          <p:nvPr/>
        </p:nvSpPr>
        <p:spPr>
          <a:xfrm>
            <a:off x="930910" y="3695700"/>
            <a:ext cx="1774190" cy="948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任务要求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027295" y="2102485"/>
            <a:ext cx="0" cy="1979930"/>
          </a:xfrm>
          <a:prstGeom prst="line">
            <a:avLst/>
          </a:prstGeom>
          <a:noFill/>
          <a:ln w="12700">
            <a:gradFill flip="none" rotWithShape="1">
              <a:gsLst>
                <a:gs pos="0">
                  <a:srgbClr val="EE0447"/>
                </a:gs>
                <a:gs pos="100000">
                  <a:srgbClr val="E34A6E">
                    <a:alpha val="0"/>
                  </a:srgbClr>
                </a:gs>
              </a:gsLst>
              <a:lin ang="5400000" scaled="1"/>
            </a:gradFill>
            <a:prstDash val="dash"/>
            <a:headEnd type="oval"/>
            <a:tailEnd type="none"/>
          </a:ln>
        </p:spPr>
      </p:sp>
      <p:sp>
        <p:nvSpPr>
          <p:cNvPr id="10" name="Text 6"/>
          <p:cNvSpPr/>
          <p:nvPr/>
        </p:nvSpPr>
        <p:spPr>
          <a:xfrm>
            <a:off x="5121910" y="2051050"/>
            <a:ext cx="1774190" cy="948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硬件设计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931795" y="2924810"/>
            <a:ext cx="0" cy="1979930"/>
          </a:xfrm>
          <a:prstGeom prst="line">
            <a:avLst/>
          </a:prstGeom>
          <a:noFill/>
          <a:ln w="12700">
            <a:gradFill flip="none" rotWithShape="1">
              <a:gsLst>
                <a:gs pos="0">
                  <a:srgbClr val="EE0447"/>
                </a:gs>
                <a:gs pos="100000">
                  <a:srgbClr val="E34A6E">
                    <a:alpha val="0"/>
                  </a:srgbClr>
                </a:gs>
              </a:gsLst>
              <a:lin ang="5400000" scaled="1"/>
            </a:gradFill>
            <a:prstDash val="dash"/>
            <a:headEnd type="oval"/>
            <a:tailEnd type="none"/>
          </a:ln>
        </p:spPr>
      </p:sp>
      <p:sp>
        <p:nvSpPr>
          <p:cNvPr id="12" name="Text 8"/>
          <p:cNvSpPr/>
          <p:nvPr/>
        </p:nvSpPr>
        <p:spPr>
          <a:xfrm>
            <a:off x="3026410" y="2873375"/>
            <a:ext cx="1850390" cy="948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系统方案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 flipV="1">
            <a:off x="7649845" y="4923155"/>
            <a:ext cx="0" cy="1460500"/>
          </a:xfrm>
          <a:prstGeom prst="line">
            <a:avLst/>
          </a:prstGeom>
          <a:noFill/>
          <a:ln w="12700">
            <a:gradFill flip="none" rotWithShape="1">
              <a:gsLst>
                <a:gs pos="0">
                  <a:srgbClr val="EE0447"/>
                </a:gs>
                <a:gs pos="100000">
                  <a:srgbClr val="E34A6E">
                    <a:alpha val="0"/>
                  </a:srgbClr>
                </a:gs>
              </a:gsLst>
              <a:lin ang="5400000" scaled="1"/>
            </a:gradFill>
            <a:prstDash val="dash"/>
            <a:headEnd type="oval"/>
            <a:tailEnd type="none"/>
          </a:ln>
        </p:spPr>
      </p:sp>
      <p:sp>
        <p:nvSpPr>
          <p:cNvPr id="14" name="Text 10"/>
          <p:cNvSpPr/>
          <p:nvPr/>
        </p:nvSpPr>
        <p:spPr>
          <a:xfrm>
            <a:off x="7740650" y="5767705"/>
            <a:ext cx="1834515" cy="6991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总结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122795" y="1280160"/>
            <a:ext cx="0" cy="1979930"/>
          </a:xfrm>
          <a:prstGeom prst="line">
            <a:avLst/>
          </a:prstGeom>
          <a:noFill/>
          <a:ln w="12700">
            <a:gradFill flip="none" rotWithShape="1">
              <a:gsLst>
                <a:gs pos="0">
                  <a:srgbClr val="EE0447"/>
                </a:gs>
                <a:gs pos="100000">
                  <a:srgbClr val="E34A6E">
                    <a:alpha val="0"/>
                  </a:srgbClr>
                </a:gs>
              </a:gsLst>
              <a:lin ang="5400000" scaled="1"/>
            </a:gradFill>
            <a:prstDash val="dash"/>
            <a:headEnd type="oval"/>
            <a:tailEnd type="none"/>
          </a:ln>
        </p:spPr>
      </p:sp>
      <p:sp>
        <p:nvSpPr>
          <p:cNvPr id="16" name="Text 12"/>
          <p:cNvSpPr/>
          <p:nvPr/>
        </p:nvSpPr>
        <p:spPr>
          <a:xfrm>
            <a:off x="7217410" y="1228725"/>
            <a:ext cx="1887855" cy="948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软件开发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 flipV="1">
            <a:off x="9656445" y="3844290"/>
            <a:ext cx="0" cy="1460500"/>
          </a:xfrm>
          <a:prstGeom prst="line">
            <a:avLst/>
          </a:prstGeom>
          <a:noFill/>
          <a:ln w="12700">
            <a:gradFill flip="none" rotWithShape="1">
              <a:gsLst>
                <a:gs pos="0">
                  <a:srgbClr val="EE0447"/>
                </a:gs>
                <a:gs pos="100000">
                  <a:srgbClr val="E34A6E">
                    <a:alpha val="0"/>
                  </a:srgbClr>
                </a:gs>
              </a:gsLst>
              <a:lin ang="5400000" scaled="1"/>
            </a:gradFill>
            <a:prstDash val="dash"/>
            <a:headEnd type="oval"/>
            <a:tailEnd type="none"/>
          </a:ln>
        </p:spPr>
      </p:sp>
      <p:sp>
        <p:nvSpPr>
          <p:cNvPr id="18" name="Text 14"/>
          <p:cNvSpPr/>
          <p:nvPr/>
        </p:nvSpPr>
        <p:spPr>
          <a:xfrm>
            <a:off x="9747250" y="4688840"/>
            <a:ext cx="1834515" cy="6991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系统调试与结果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47:11-d0shobs75iks832je3cg.png"/>
          <p:cNvPicPr>
            <a:picLocks noChangeAspect="1"/>
          </p:cNvPicPr>
          <p:nvPr/>
        </p:nvPicPr>
        <p:blipFill>
          <a:blip r:embed="rId2"/>
          <a:srcRect l="14909" b="28"/>
          <a:stretch>
            <a:fillRect/>
          </a:stretch>
        </p:blipFill>
        <p:spPr>
          <a:xfrm>
            <a:off x="0" y="15240"/>
            <a:ext cx="12176760" cy="68440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3555" y="5657215"/>
            <a:ext cx="176276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9247505" y="1416050"/>
            <a:ext cx="1582420" cy="13537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01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877243" y="2819717"/>
            <a:ext cx="4953000" cy="1183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任务要求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638175" y="1590675"/>
            <a:ext cx="5205095" cy="2026285"/>
          </a:xfrm>
          <a:prstGeom prst="roundRect">
            <a:avLst>
              <a:gd name="adj" fmla="val 2679"/>
            </a:avLst>
          </a:prstGeom>
          <a:gradFill flip="none" rotWithShape="1">
            <a:gsLst>
              <a:gs pos="4000">
                <a:srgbClr val="EE0447">
                  <a:alpha val="41000"/>
                </a:srgbClr>
              </a:gs>
              <a:gs pos="50000">
                <a:srgbClr val="E34A6E">
                  <a:alpha val="40000"/>
                </a:srgbClr>
              </a:gs>
              <a:gs pos="93000">
                <a:srgbClr val="232322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EE0447"/>
            </a:solidFill>
            <a:prstDash val="solid"/>
          </a:ln>
        </p:spPr>
        <p:txBody>
          <a:bodyPr/>
          <a:p>
            <a:r>
              <a:rPr lang="zh-CN" altLang="en-US" sz="1400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硬件设计</a:t>
            </a:r>
            <a:endParaRPr lang="zh-CN" altLang="en-US" sz="1400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endParaRPr lang="zh-CN" altLang="en-US" sz="1400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以</a:t>
            </a:r>
            <a:r>
              <a:rPr lang="en-US" altLang="zh-CN" sz="14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 STM32 </a:t>
            </a:r>
            <a:r>
              <a:rPr lang="zh-CN" altLang="en-US" sz="14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为核心，集成多种传感器和执行机构，设计信号调理与驱动电路，确保数据采集准确、控制可靠。配备无线通信模块，实现远程监控功能，满足系统硬件需求。</a:t>
            </a:r>
            <a:endParaRPr lang="zh-CN" altLang="en-US" sz="140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endParaRPr lang="zh-CN" altLang="en-US" sz="1400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endParaRPr lang="zh-CN" altLang="en-US" sz="1400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637540" y="1656080"/>
            <a:ext cx="11016615" cy="16186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1484" y="2371725"/>
            <a:ext cx="10341056" cy="104648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>
            <p:custDataLst>
              <p:tags r:id="rId3"/>
            </p:custDataLst>
          </p:nvPr>
        </p:nvSpPr>
        <p:spPr>
          <a:xfrm>
            <a:off x="6448425" y="3640455"/>
            <a:ext cx="5205730" cy="2305050"/>
          </a:xfrm>
          <a:prstGeom prst="roundRect">
            <a:avLst>
              <a:gd name="adj" fmla="val 2679"/>
            </a:avLst>
          </a:prstGeom>
          <a:gradFill flip="none" rotWithShape="1">
            <a:gsLst>
              <a:gs pos="16000">
                <a:srgbClr val="342390">
                  <a:alpha val="50000"/>
                </a:srgbClr>
              </a:gs>
              <a:gs pos="41000">
                <a:srgbClr val="342390">
                  <a:alpha val="40000"/>
                </a:srgbClr>
              </a:gs>
              <a:gs pos="90000">
                <a:srgbClr val="232322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3423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8425" y="3640455"/>
            <a:ext cx="5205730" cy="23050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6804748" y="3754755"/>
            <a:ext cx="4044891" cy="546100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dirty="0">
                <a:solidFill>
                  <a:schemeClr val="bg1"/>
                </a:solidFill>
              </a:rPr>
              <a:t>论文编写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>
            <p:custDataLst>
              <p:tags r:id="rId5"/>
            </p:custDataLst>
          </p:nvPr>
        </p:nvSpPr>
        <p:spPr>
          <a:xfrm>
            <a:off x="6804748" y="4267200"/>
            <a:ext cx="4511458" cy="180848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40000"/>
              </a:lnSpc>
              <a:buNone/>
            </a:pPr>
            <a:r>
              <a:rPr lang="zh-CN" altLang="en-US" sz="1400">
                <a:solidFill>
                  <a:schemeClr val="bg1"/>
                </a:solidFill>
                <a:sym typeface="+mn-ea"/>
              </a:rPr>
              <a:t>撰写论文，详细阐述系统设计、开发与测试过程。分析硬件选型与电路设计，论述软件架构与算法实现，总结测试结果与优化方案，为智能盆栽养护提供理论与实践参考。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37540" y="3640455"/>
            <a:ext cx="5205730" cy="23050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>
            <p:custDataLst>
              <p:tags r:id="rId6"/>
            </p:custDataLst>
          </p:nvPr>
        </p:nvSpPr>
        <p:spPr>
          <a:xfrm>
            <a:off x="666115" y="3731895"/>
            <a:ext cx="4372610" cy="568960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dirty="0">
                <a:solidFill>
                  <a:schemeClr val="bg1"/>
                </a:solidFill>
                <a:sym typeface="+mn-ea"/>
              </a:rPr>
              <a:t>系统测试</a:t>
            </a:r>
            <a:endParaRPr lang="zh-CN" altLang="en-US" sz="1600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16" name="Text 13"/>
          <p:cNvSpPr/>
          <p:nvPr>
            <p:custDataLst>
              <p:tags r:id="rId7"/>
            </p:custDataLst>
          </p:nvPr>
        </p:nvSpPr>
        <p:spPr>
          <a:xfrm>
            <a:off x="666115" y="4267200"/>
            <a:ext cx="4839335" cy="180848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zh-CN" altLang="en-US" sz="1400">
                <a:solidFill>
                  <a:schemeClr val="bg1"/>
                </a:solidFill>
                <a:sym typeface="+mn-ea"/>
              </a:rPr>
              <a:t>对硬件性能、软件功能及整体稳定性进行全面测试。验证传感器准确性、执行机构响应速度和通信稳定性，确保系统运行可靠，满足实际使用需求。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90550" y="476250"/>
            <a:ext cx="11386820" cy="682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4400" dirty="0">
                <a:solidFill>
                  <a:schemeClr val="bg1"/>
                </a:solidFill>
              </a:rPr>
              <a:t>任务要求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21" name="Shape 2"/>
          <p:cNvSpPr/>
          <p:nvPr>
            <p:custDataLst>
              <p:tags r:id="rId8"/>
            </p:custDataLst>
          </p:nvPr>
        </p:nvSpPr>
        <p:spPr>
          <a:xfrm>
            <a:off x="6449060" y="1590675"/>
            <a:ext cx="5205095" cy="2049780"/>
          </a:xfrm>
          <a:prstGeom prst="roundRect">
            <a:avLst>
              <a:gd name="adj" fmla="val 2679"/>
            </a:avLst>
          </a:prstGeom>
          <a:gradFill flip="none" rotWithShape="1">
            <a:gsLst>
              <a:gs pos="4000">
                <a:srgbClr val="EE0447">
                  <a:alpha val="41000"/>
                </a:srgbClr>
              </a:gs>
              <a:gs pos="50000">
                <a:srgbClr val="E34A6E">
                  <a:alpha val="40000"/>
                </a:srgbClr>
              </a:gs>
              <a:gs pos="93000">
                <a:srgbClr val="232322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EE0447"/>
            </a:solidFill>
            <a:prstDash val="solid"/>
          </a:ln>
        </p:spPr>
        <p:txBody>
          <a:bodyPr/>
          <a:p>
            <a:r>
              <a:rPr lang="zh-CN" altLang="en-US" sz="1400" dirty="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软件开发</a:t>
            </a:r>
            <a:endParaRPr lang="zh-CN" altLang="en-US" sz="1400" dirty="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+mn-ea"/>
            </a:endParaRPr>
          </a:p>
          <a:p>
            <a:r>
              <a:rPr lang="zh-CN" altLang="en-US" sz="14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开发</a:t>
            </a:r>
            <a:r>
              <a:rPr lang="en-US" altLang="zh-CN" sz="14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 STM32 </a:t>
            </a:r>
            <a:r>
              <a:rPr lang="zh-CN" altLang="en-US" sz="14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固件，实现传感器数据采集、执行机构控制和无线通信功能。设计灌溉、补光、通风算法，智能调节环境。手机</a:t>
            </a:r>
            <a:r>
              <a:rPr lang="en-US" altLang="zh-CN" sz="14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 APP </a:t>
            </a:r>
            <a:r>
              <a:rPr lang="zh-CN" altLang="en-US" sz="1400">
                <a:solidFill>
                  <a:schemeClr val="bg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+mn-ea"/>
              </a:rPr>
              <a:t>实现远程监控、参数设置，提升用户体验。</a:t>
            </a:r>
            <a:endParaRPr lang="zh-CN" altLang="en-US" sz="1400">
              <a:solidFill>
                <a:schemeClr val="bg1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47:11-d0shobs75iks832je3cg.png"/>
          <p:cNvPicPr>
            <a:picLocks noChangeAspect="1"/>
          </p:cNvPicPr>
          <p:nvPr/>
        </p:nvPicPr>
        <p:blipFill>
          <a:blip r:embed="rId2"/>
          <a:srcRect l="14909" b="28"/>
          <a:stretch>
            <a:fillRect/>
          </a:stretch>
        </p:blipFill>
        <p:spPr>
          <a:xfrm>
            <a:off x="0" y="15240"/>
            <a:ext cx="12176760" cy="68440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3555" y="5657215"/>
            <a:ext cx="176276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9247505" y="1416050"/>
            <a:ext cx="1582420" cy="13537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02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877243" y="2819717"/>
            <a:ext cx="4953000" cy="1183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系统方案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hape 0"/>
          <p:cNvSpPr/>
          <p:nvPr/>
        </p:nvSpPr>
        <p:spPr>
          <a:xfrm>
            <a:off x="0" y="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11175" y="305435"/>
            <a:ext cx="46742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1"/>
                </a:solidFill>
              </a:rPr>
              <a:t>系统方案</a:t>
            </a:r>
            <a:endParaRPr lang="zh-CN" altLang="en-US" sz="36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5360" y="2907030"/>
            <a:ext cx="26898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</a:rPr>
              <a:t>大棚程序流程图</a:t>
            </a:r>
            <a:endParaRPr lang="zh-CN" altLang="en-US" sz="280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8960" y="2058670"/>
            <a:ext cx="4616450" cy="4352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263765" y="2058670"/>
            <a:ext cx="4568825" cy="4400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575310"/>
            <a:ext cx="4019550" cy="6025515"/>
          </a:xfrm>
          <a:prstGeom prst="rect">
            <a:avLst/>
          </a:prstGeom>
        </p:spPr>
      </p:pic>
      <p:pic>
        <p:nvPicPr>
          <p:cNvPr id="10" name="Image 3" descr="https://test-kimi-img.moonshot.cn/pub/slides/slides_tmpl/image/25-05-30-10:59:23-d0shu2s75iks832jeb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495" y="2950845"/>
            <a:ext cx="570230" cy="4781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9768840" y="1196975"/>
            <a:ext cx="4304030" cy="4304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7" name="Image 1" descr="https://test-kimi-img.moonshot.cn/pub/slides/slides_tmpl/image/25-05-30-10:47:47-d0shoks75iks832je3lg.pn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13335"/>
            <a:ext cx="5393055" cy="6858000"/>
          </a:xfrm>
          <a:prstGeom prst="rect">
            <a:avLst/>
          </a:prstGeom>
        </p:spPr>
      </p:pic>
      <p:sp>
        <p:nvSpPr>
          <p:cNvPr id="8" name="Text 4"/>
          <p:cNvSpPr/>
          <p:nvPr>
            <p:custDataLst>
              <p:tags r:id="rId3"/>
            </p:custDataLst>
          </p:nvPr>
        </p:nvSpPr>
        <p:spPr>
          <a:xfrm>
            <a:off x="6492875" y="2611755"/>
            <a:ext cx="5092700" cy="368300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E34A6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软件架构</a:t>
            </a:r>
            <a:endParaRPr lang="en-US" sz="1600" dirty="0"/>
          </a:p>
        </p:txBody>
      </p:sp>
      <p:sp>
        <p:nvSpPr>
          <p:cNvPr id="9" name="Text 5"/>
          <p:cNvSpPr/>
          <p:nvPr>
            <p:custDataLst>
              <p:tags r:id="rId4"/>
            </p:custDataLst>
          </p:nvPr>
        </p:nvSpPr>
        <p:spPr>
          <a:xfrm>
            <a:off x="6492240" y="3093085"/>
            <a:ext cx="5083175" cy="148463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实现数据采集、处理与传输，支持本地显示与手机APP远程监控，完成自动控制与手动调节功能。</a:t>
            </a:r>
            <a:endParaRPr lang="en-US" sz="1600" dirty="0"/>
          </a:p>
        </p:txBody>
      </p:sp>
      <p:sp>
        <p:nvSpPr>
          <p:cNvPr id="10" name="Text 6"/>
          <p:cNvSpPr/>
          <p:nvPr>
            <p:custDataLst>
              <p:tags r:id="rId5"/>
            </p:custDataLst>
          </p:nvPr>
        </p:nvSpPr>
        <p:spPr>
          <a:xfrm>
            <a:off x="5768975" y="4599940"/>
            <a:ext cx="5092700" cy="368300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E34A6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功能模块划分</a:t>
            </a:r>
            <a:endParaRPr lang="en-US" sz="1600" dirty="0"/>
          </a:p>
        </p:txBody>
      </p:sp>
      <p:sp>
        <p:nvSpPr>
          <p:cNvPr id="11" name="Text 7"/>
          <p:cNvSpPr/>
          <p:nvPr>
            <p:custDataLst>
              <p:tags r:id="rId6"/>
            </p:custDataLst>
          </p:nvPr>
        </p:nvSpPr>
        <p:spPr>
          <a:xfrm>
            <a:off x="5768340" y="5081270"/>
            <a:ext cx="5083175" cy="148463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系统分为数据采集模块、控制模块、通信模块、显示模块与执行模块，各模块协同工作。</a:t>
            </a:r>
            <a:endParaRPr lang="en-US" sz="1600" dirty="0"/>
          </a:p>
        </p:txBody>
      </p:sp>
      <p:sp>
        <p:nvSpPr>
          <p:cNvPr id="12" name="Text 8"/>
          <p:cNvSpPr/>
          <p:nvPr>
            <p:custDataLst>
              <p:tags r:id="rId7"/>
            </p:custDataLst>
          </p:nvPr>
        </p:nvSpPr>
        <p:spPr>
          <a:xfrm>
            <a:off x="5768340" y="622935"/>
            <a:ext cx="5092700" cy="368300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E34A6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硬件架构</a:t>
            </a:r>
            <a:endParaRPr lang="en-US" sz="1600" dirty="0"/>
          </a:p>
        </p:txBody>
      </p:sp>
      <p:sp>
        <p:nvSpPr>
          <p:cNvPr id="13" name="Text 9"/>
          <p:cNvSpPr/>
          <p:nvPr>
            <p:custDataLst>
              <p:tags r:id="rId8"/>
            </p:custDataLst>
          </p:nvPr>
        </p:nvSpPr>
        <p:spPr>
          <a:xfrm>
            <a:off x="5768340" y="1104265"/>
            <a:ext cx="5083175" cy="148590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以STM32微控制器为核心，集成土壤湿度、光照强度、温湿度等多种传感器，连接</a:t>
            </a:r>
            <a:r>
              <a:rPr lang="zh-CN" alt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电机</a:t>
            </a: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、LED</a:t>
            </a:r>
            <a:r>
              <a:rPr lang="zh-CN" alt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灯</a:t>
            </a: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、风扇等执行机构，配备无线通信模块。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97535" y="2781300"/>
            <a:ext cx="4161790" cy="183769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2F2F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系统架构设计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47:11-d0shobs75iks832je3cg.png"/>
          <p:cNvPicPr>
            <a:picLocks noChangeAspect="1"/>
          </p:cNvPicPr>
          <p:nvPr/>
        </p:nvPicPr>
        <p:blipFill>
          <a:blip r:embed="rId2"/>
          <a:srcRect l="14909" b="28"/>
          <a:stretch>
            <a:fillRect/>
          </a:stretch>
        </p:blipFill>
        <p:spPr>
          <a:xfrm>
            <a:off x="0" y="15240"/>
            <a:ext cx="12176760" cy="68440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3555" y="5657215"/>
            <a:ext cx="176276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9247505" y="1416050"/>
            <a:ext cx="1582420" cy="13537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03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877243" y="2819717"/>
            <a:ext cx="4953000" cy="1183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硬件设计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33680" y="219075"/>
            <a:ext cx="30746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chemeClr val="bg1"/>
                </a:solidFill>
              </a:rPr>
              <a:t>硬件设计</a:t>
            </a:r>
            <a:endParaRPr lang="zh-CN" altLang="en-US" sz="32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40180" y="1627505"/>
            <a:ext cx="126428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</a:rPr>
              <a:t>最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小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系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统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电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路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zh-CN" altLang="en-US" sz="2400">
                <a:solidFill>
                  <a:schemeClr val="bg1"/>
                </a:solidFill>
              </a:rPr>
              <a:t>图</a:t>
            </a:r>
            <a:endParaRPr lang="zh-CN" altLang="en-US" sz="2400">
              <a:solidFill>
                <a:schemeClr val="bg1"/>
              </a:solidFill>
            </a:endParaRPr>
          </a:p>
        </p:txBody>
      </p:sp>
      <p:pic>
        <p:nvPicPr>
          <p:cNvPr id="10" name="Image 3" descr="https://test-kimi-img.moonshot.cn/pub/slides/slides_tmpl/image/25-05-30-10:59:23-d0shu2s75iks832jeb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280" y="2785110"/>
            <a:ext cx="570230" cy="4781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213985" y="1090930"/>
            <a:ext cx="5631815" cy="4801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pic>
        <p:nvPicPr>
          <p:cNvPr id="91" name="图片 91" descr="整机电路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085" y="1170305"/>
            <a:ext cx="7549515" cy="37077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9768840" y="1196975"/>
            <a:ext cx="4304030" cy="4304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rot="16200000">
            <a:off x="6962775" y="-4806315"/>
            <a:ext cx="1484630" cy="1397698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42390">
              <a:alpha val="12941"/>
            </a:srgbClr>
          </a:solidFill>
        </p:spPr>
      </p:sp>
      <p:sp>
        <p:nvSpPr>
          <p:cNvPr id="8" name="Text 5"/>
          <p:cNvSpPr/>
          <p:nvPr/>
        </p:nvSpPr>
        <p:spPr>
          <a:xfrm rot="16200000">
            <a:off x="6962775" y="-4806315"/>
            <a:ext cx="1484630" cy="139769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65225" y="1904365"/>
            <a:ext cx="638175" cy="638175"/>
          </a:xfrm>
          <a:prstGeom prst="ellipse">
            <a:avLst/>
          </a:prstGeom>
          <a:gradFill flip="none" rotWithShape="1">
            <a:gsLst>
              <a:gs pos="10000">
                <a:srgbClr val="EE92A7"/>
              </a:gs>
              <a:gs pos="56000">
                <a:srgbClr val="C31E45"/>
              </a:gs>
              <a:gs pos="100000">
                <a:srgbClr val="000000"/>
              </a:gs>
            </a:gsLst>
            <a:lin ang="2700000" scaled="1"/>
          </a:gradFill>
          <a:effectLst>
            <a:outerShdw blurRad="290837" dist="50607" dir="2700000" algn="bl" rotWithShape="0">
              <a:srgbClr val="EE0447">
                <a:alpha val="6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165225" y="1904365"/>
            <a:ext cx="638175" cy="638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165225" y="2075180"/>
            <a:ext cx="664845" cy="29591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1165225" y="2075180"/>
            <a:ext cx="664845" cy="295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025650" y="1485900"/>
            <a:ext cx="4182110" cy="27622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微控制器选型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025650" y="1840230"/>
            <a:ext cx="7555230" cy="574873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选用STM32F103ZET6，基于ARM Cortex-M3架构，具备72MHz主频、512KB Flash存储和64KB SRAM，支持丰富外设接口。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 rot="16200000">
            <a:off x="7129145" y="-2388870"/>
            <a:ext cx="1484630" cy="1255395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E0447">
              <a:alpha val="12941"/>
            </a:srgbClr>
          </a:solidFill>
        </p:spPr>
      </p:sp>
      <p:sp>
        <p:nvSpPr>
          <p:cNvPr id="16" name="Text 13"/>
          <p:cNvSpPr/>
          <p:nvPr/>
        </p:nvSpPr>
        <p:spPr>
          <a:xfrm rot="16200000">
            <a:off x="7129145" y="-2388870"/>
            <a:ext cx="1484630" cy="125539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077720" y="3559810"/>
            <a:ext cx="638175" cy="638175"/>
          </a:xfrm>
          <a:prstGeom prst="ellipse">
            <a:avLst/>
          </a:prstGeom>
          <a:gradFill flip="none" rotWithShape="1">
            <a:gsLst>
              <a:gs pos="10000">
                <a:srgbClr val="725FD8"/>
              </a:gs>
              <a:gs pos="56000">
                <a:srgbClr val="271A6C"/>
              </a:gs>
              <a:gs pos="100000">
                <a:srgbClr val="000000"/>
              </a:gs>
            </a:gsLst>
            <a:lin ang="2700000" scaled="1"/>
          </a:gradFill>
          <a:effectLst>
            <a:outerShdw blurRad="290837" dist="50607" dir="2700000" algn="bl" rotWithShape="0">
              <a:srgbClr val="342390">
                <a:alpha val="6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077720" y="3559810"/>
            <a:ext cx="638175" cy="638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051050" y="3730943"/>
            <a:ext cx="664845" cy="29591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0" name="Text 17"/>
          <p:cNvSpPr/>
          <p:nvPr/>
        </p:nvSpPr>
        <p:spPr>
          <a:xfrm>
            <a:off x="2051050" y="3730943"/>
            <a:ext cx="664845" cy="295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02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855595" y="3249930"/>
            <a:ext cx="4182110" cy="27622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核心功能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855595" y="3604260"/>
            <a:ext cx="7555230" cy="287338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作为系统大脑，负责接收传感器数据，执行算法分析处理，控制外设动作，协调各模块运行。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 rot="16200000">
            <a:off x="7332345" y="139065"/>
            <a:ext cx="1484630" cy="1094105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42390">
              <a:alpha val="12941"/>
            </a:srgbClr>
          </a:solidFill>
        </p:spPr>
      </p:sp>
      <p:sp>
        <p:nvSpPr>
          <p:cNvPr id="24" name="Text 21"/>
          <p:cNvSpPr/>
          <p:nvPr/>
        </p:nvSpPr>
        <p:spPr>
          <a:xfrm rot="16200000">
            <a:off x="7332345" y="139065"/>
            <a:ext cx="1484630" cy="109410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072130" y="5339080"/>
            <a:ext cx="638175" cy="638175"/>
          </a:xfrm>
          <a:prstGeom prst="ellipse">
            <a:avLst/>
          </a:prstGeom>
          <a:gradFill flip="none" rotWithShape="1">
            <a:gsLst>
              <a:gs pos="10000">
                <a:srgbClr val="EE92A7"/>
              </a:gs>
              <a:gs pos="56000">
                <a:srgbClr val="C31E45"/>
              </a:gs>
              <a:gs pos="100000">
                <a:srgbClr val="000000"/>
              </a:gs>
            </a:gsLst>
            <a:lin ang="2700000" scaled="1"/>
          </a:gradFill>
          <a:effectLst>
            <a:outerShdw blurRad="290837" dist="50607" dir="2700000" algn="bl" rotWithShape="0">
              <a:srgbClr val="EE0447">
                <a:alpha val="6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072130" y="5339080"/>
            <a:ext cx="638175" cy="638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058795" y="5510213"/>
            <a:ext cx="664845" cy="29591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8" name="Text 25"/>
          <p:cNvSpPr/>
          <p:nvPr/>
        </p:nvSpPr>
        <p:spPr>
          <a:xfrm>
            <a:off x="3058795" y="5510213"/>
            <a:ext cx="664845" cy="295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03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035425" y="4953000"/>
            <a:ext cx="4182110" cy="27622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性能优势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035425" y="5307330"/>
            <a:ext cx="7555230" cy="287338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高性能、低功耗，满足系统对稳定性和效率的要求，为智能化养护提供强大硬件支持。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97890" y="476250"/>
            <a:ext cx="11386820" cy="682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2F2F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STM32主控模块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 rot="16200000" flipH="1" flipV="1">
            <a:off x="1323340" y="993775"/>
            <a:ext cx="4700270" cy="5804535"/>
          </a:xfrm>
          <a:custGeom>
            <a:avLst/>
            <a:gdLst/>
            <a:ahLst/>
            <a:cxnLst/>
            <a:rect l="l" t="t" r="r" b="b"/>
            <a:pathLst>
              <a:path w="4700270" h="5804535">
                <a:moveTo>
                  <a:pt x="0" y="1160907"/>
                </a:moveTo>
                <a:lnTo>
                  <a:pt x="4700270" y="0"/>
                </a:lnTo>
                <a:lnTo>
                  <a:pt x="4700270" y="5804535"/>
                </a:lnTo>
                <a:lnTo>
                  <a:pt x="0" y="5804535"/>
                </a:lnTo>
                <a:close/>
              </a:path>
            </a:pathLst>
          </a:custGeom>
          <a:gradFill flip="none" rotWithShape="1">
            <a:gsLst>
              <a:gs pos="16000">
                <a:srgbClr val="232322">
                  <a:alpha val="0"/>
                </a:srgbClr>
              </a:gs>
              <a:gs pos="71000">
                <a:srgbClr val="E34A6E">
                  <a:alpha val="40000"/>
                </a:srgbClr>
              </a:gs>
              <a:gs pos="100000">
                <a:srgbClr val="EE0447">
                  <a:alpha val="41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EE04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 rot="16200000">
            <a:off x="1323340" y="993775"/>
            <a:ext cx="4700270" cy="58045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>
            <p:custDataLst>
              <p:tags r:id="rId3"/>
            </p:custDataLst>
          </p:nvPr>
        </p:nvSpPr>
        <p:spPr>
          <a:xfrm rot="16200000">
            <a:off x="6224905" y="993775"/>
            <a:ext cx="4700270" cy="5804535"/>
          </a:xfrm>
          <a:custGeom>
            <a:avLst/>
            <a:gdLst/>
            <a:ahLst/>
            <a:cxnLst/>
            <a:rect l="l" t="t" r="r" b="b"/>
            <a:pathLst>
              <a:path w="4700270" h="5804535">
                <a:moveTo>
                  <a:pt x="0" y="1160907"/>
                </a:moveTo>
                <a:lnTo>
                  <a:pt x="4700270" y="0"/>
                </a:lnTo>
                <a:lnTo>
                  <a:pt x="4700270" y="5804535"/>
                </a:lnTo>
                <a:lnTo>
                  <a:pt x="0" y="5804535"/>
                </a:lnTo>
                <a:close/>
              </a:path>
            </a:pathLst>
          </a:custGeom>
          <a:gradFill flip="none" rotWithShape="1">
            <a:gsLst>
              <a:gs pos="16000">
                <a:srgbClr val="232322">
                  <a:alpha val="0"/>
                </a:srgbClr>
              </a:gs>
              <a:gs pos="71000">
                <a:srgbClr val="342390">
                  <a:alpha val="40000"/>
                </a:srgbClr>
              </a:gs>
              <a:gs pos="100000">
                <a:srgbClr val="342390">
                  <a:alpha val="50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3423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 rot="16200000">
            <a:off x="6224905" y="993775"/>
            <a:ext cx="4700270" cy="58045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1016635" y="1786255"/>
            <a:ext cx="5280025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土壤湿度传感器</a:t>
            </a:r>
            <a:endParaRPr lang="en-US" sz="1600" dirty="0"/>
          </a:p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1016000" y="4008120"/>
            <a:ext cx="534924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温湿度传感器</a:t>
            </a:r>
            <a:endParaRPr lang="en-US" sz="1600" dirty="0"/>
          </a:p>
        </p:txBody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1016635" y="2287270"/>
            <a:ext cx="4156075" cy="11182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采用HW-080，模拟量输出，</a:t>
            </a:r>
            <a:endParaRPr lang="en-US" sz="1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防水探头设计，基于电阻式</a:t>
            </a:r>
            <a:endParaRPr lang="en-US" sz="1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测量，输出0~3V模拟信号，</a:t>
            </a:r>
            <a:endParaRPr lang="en-US" sz="1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可精准监测土壤湿度。</a:t>
            </a:r>
            <a:endParaRPr lang="en-US" sz="1600" dirty="0"/>
          </a:p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1016635" y="4565650"/>
            <a:ext cx="4124325" cy="16770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使用DHT11，数字信</a:t>
            </a:r>
            <a:endParaRPr lang="en-US" sz="1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号输出，测量范围湿度</a:t>
            </a:r>
            <a:endParaRPr lang="en-US" sz="1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20~90%RH、温度0~</a:t>
            </a:r>
            <a:endParaRPr lang="en-US" sz="1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50℃，精度高，稳定性</a:t>
            </a:r>
            <a:endParaRPr lang="en-US" sz="1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好，用于环境温湿度监</a:t>
            </a:r>
            <a:endParaRPr lang="en-US" sz="1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测。</a:t>
            </a:r>
            <a:endParaRPr lang="en-US" sz="1600" dirty="0"/>
          </a:p>
        </p:txBody>
      </p:sp>
      <p:sp>
        <p:nvSpPr>
          <p:cNvPr id="13" name="Text 10"/>
          <p:cNvSpPr/>
          <p:nvPr>
            <p:custDataLst>
              <p:tags r:id="rId8"/>
            </p:custDataLst>
          </p:nvPr>
        </p:nvSpPr>
        <p:spPr>
          <a:xfrm>
            <a:off x="5746750" y="1786255"/>
            <a:ext cx="5364480" cy="368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光照强度传感器</a:t>
            </a:r>
            <a:endParaRPr lang="en-US" sz="1600" dirty="0"/>
          </a:p>
        </p:txBody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5786120" y="3969385"/>
            <a:ext cx="5349875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W</a:t>
            </a:r>
            <a:endParaRPr lang="zh-CN" altLang="en-US" sz="2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8937625" y="2248535"/>
            <a:ext cx="2011045" cy="11182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配备JY30光照传感器，</a:t>
            </a:r>
            <a:endParaRPr lang="en-US" sz="1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以1lx分辨率采集环境光</a:t>
            </a:r>
            <a:endParaRPr lang="en-US" sz="1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照强度，为光照调控提</a:t>
            </a:r>
            <a:endParaRPr lang="en-US" sz="1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供准确数据。</a:t>
            </a:r>
            <a:endParaRPr lang="en-US" sz="1600" dirty="0"/>
          </a:p>
        </p:txBody>
      </p:sp>
      <p:sp>
        <p:nvSpPr>
          <p:cNvPr id="16" name="Text 13"/>
          <p:cNvSpPr/>
          <p:nvPr>
            <p:custDataLst>
              <p:tags r:id="rId11"/>
            </p:custDataLst>
          </p:nvPr>
        </p:nvSpPr>
        <p:spPr>
          <a:xfrm>
            <a:off x="8937625" y="4565015"/>
            <a:ext cx="2505710" cy="3194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68630" y="476250"/>
            <a:ext cx="11386820" cy="682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2F2F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传感器模块</a:t>
            </a:r>
            <a:endParaRPr lang="en-US" sz="1600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21685" y="2287270"/>
            <a:ext cx="2072005" cy="142176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30695" y="2287270"/>
            <a:ext cx="1777365" cy="140525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21685" y="4614545"/>
            <a:ext cx="2072005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04495" y="1217930"/>
            <a:ext cx="11444605" cy="4881245"/>
          </a:xfrm>
          <a:custGeom>
            <a:avLst/>
            <a:gdLst/>
            <a:ahLst/>
            <a:cxnLst/>
            <a:rect l="l" t="t" r="r" b="b"/>
            <a:pathLst>
              <a:path w="11444605" h="4881245">
                <a:moveTo>
                  <a:pt x="0" y="742678"/>
                </a:moveTo>
                <a:lnTo>
                  <a:pt x="2813529" y="742678"/>
                </a:lnTo>
                <a:lnTo>
                  <a:pt x="2813529" y="277740"/>
                </a:lnTo>
                <a:lnTo>
                  <a:pt x="6100107" y="277740"/>
                </a:lnTo>
                <a:lnTo>
                  <a:pt x="6100107" y="742678"/>
                </a:lnTo>
                <a:lnTo>
                  <a:pt x="8456461" y="742678"/>
                </a:lnTo>
                <a:lnTo>
                  <a:pt x="8456461" y="0"/>
                </a:lnTo>
                <a:lnTo>
                  <a:pt x="11444605" y="0"/>
                </a:lnTo>
                <a:lnTo>
                  <a:pt x="11444605" y="3515793"/>
                </a:lnTo>
                <a:lnTo>
                  <a:pt x="8824105" y="3515793"/>
                </a:lnTo>
                <a:lnTo>
                  <a:pt x="8824105" y="4881245"/>
                </a:lnTo>
                <a:lnTo>
                  <a:pt x="5928666" y="4881245"/>
                </a:lnTo>
                <a:lnTo>
                  <a:pt x="5928666" y="4416306"/>
                </a:lnTo>
                <a:lnTo>
                  <a:pt x="3286578" y="4416306"/>
                </a:lnTo>
                <a:lnTo>
                  <a:pt x="3286578" y="4881245"/>
                </a:lnTo>
                <a:lnTo>
                  <a:pt x="0" y="4881245"/>
                </a:lnTo>
                <a:lnTo>
                  <a:pt x="0" y="742678"/>
                </a:lnTo>
                <a:close/>
              </a:path>
            </a:pathLst>
          </a:custGeom>
          <a:gradFill flip="none" rotWithShape="1">
            <a:gsLst>
              <a:gs pos="0">
                <a:srgbClr val="FECBD9">
                  <a:alpha val="41000"/>
                </a:srgbClr>
              </a:gs>
              <a:gs pos="30000">
                <a:srgbClr val="232322">
                  <a:alpha val="0"/>
                </a:srgbClr>
              </a:gs>
              <a:gs pos="100000">
                <a:srgbClr val="EE0447">
                  <a:alpha val="52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gradFill flip="none" rotWithShape="1">
              <a:gsLst>
                <a:gs pos="0">
                  <a:srgbClr val="342390"/>
                </a:gs>
                <a:gs pos="99000">
                  <a:srgbClr val="EE0447"/>
                </a:gs>
              </a:gsLst>
              <a:path path="circle">
                <a:fillToRect l="50000" t="50000" r="50000" b="50000"/>
              </a:path>
            </a:gra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404495" y="1217930"/>
            <a:ext cx="11444605" cy="488124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>
            <p:custDataLst>
              <p:tags r:id="rId2"/>
            </p:custDataLst>
          </p:nvPr>
        </p:nvSpPr>
        <p:spPr>
          <a:xfrm>
            <a:off x="629285" y="2924175"/>
            <a:ext cx="2413000" cy="120967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用于灌溉，根据土壤湿度传感器数据，当土壤湿度低于设定阈值时，自动启动浇水，确保植物水分充足。</a:t>
            </a:r>
            <a:endParaRPr lang="en-US" sz="1600" dirty="0"/>
          </a:p>
        </p:txBody>
      </p:sp>
      <p:sp>
        <p:nvSpPr>
          <p:cNvPr id="8" name="Text 5"/>
          <p:cNvSpPr/>
          <p:nvPr>
            <p:custDataLst>
              <p:tags r:id="rId3"/>
            </p:custDataLst>
          </p:nvPr>
        </p:nvSpPr>
        <p:spPr>
          <a:xfrm>
            <a:off x="629285" y="2207260"/>
            <a:ext cx="2412365" cy="33718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rgbClr val="E34A6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电机</a:t>
            </a:r>
            <a:endParaRPr lang="zh-CN" altLang="en-US" sz="1600" b="1" dirty="0">
              <a:solidFill>
                <a:srgbClr val="E34A6E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3518987" y="2658792"/>
            <a:ext cx="2629394" cy="2327910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 ExtraLight" panose="00000300000000000000" charset="-122"/>
              </a:rPr>
              <a:t>L</a:t>
            </a:r>
            <a:r>
              <a:rPr lang="zh-CN" altLang="en-US" sz="1400" dirty="0">
                <a:solidFill>
                  <a:schemeClr val="bg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 ExtraLight" panose="00000300000000000000" charset="-122"/>
              </a:rPr>
              <a:t>电机模块以</a:t>
            </a:r>
            <a:r>
              <a:rPr lang="en-US" altLang="zh-CN" sz="1400" dirty="0">
                <a:solidFill>
                  <a:schemeClr val="bg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 ExtraLight" panose="00000300000000000000" charset="-122"/>
              </a:rPr>
              <a:t>STM32</a:t>
            </a:r>
            <a:r>
              <a:rPr lang="zh-CN" altLang="en-US" sz="1400" dirty="0">
                <a:solidFill>
                  <a:schemeClr val="bg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 ExtraLight" panose="00000300000000000000" charset="-122"/>
              </a:rPr>
              <a:t>为核心，搭配光照传感器、电机驱动电路和窗帘轨道机构。光照传感器实时监测光强，</a:t>
            </a:r>
            <a:r>
              <a:rPr lang="en-US" altLang="zh-CN" sz="1400" dirty="0">
                <a:solidFill>
                  <a:schemeClr val="bg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 ExtraLight" panose="00000300000000000000" charset="-122"/>
              </a:rPr>
              <a:t>STM32</a:t>
            </a:r>
            <a:r>
              <a:rPr lang="zh-CN" altLang="en-US" sz="1400" dirty="0">
                <a:solidFill>
                  <a:schemeClr val="bg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 ExtraLight" panose="00000300000000000000" charset="-122"/>
              </a:rPr>
              <a:t>根据光照强度控制电机正反转，实现窗帘自动闭合或拉开。支持手机</a:t>
            </a:r>
            <a:r>
              <a:rPr lang="en-US" altLang="zh-CN" sz="1400" dirty="0">
                <a:solidFill>
                  <a:schemeClr val="bg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 ExtraLight" panose="00000300000000000000" charset="-122"/>
              </a:rPr>
              <a:t>APP</a:t>
            </a:r>
            <a:r>
              <a:rPr lang="zh-CN" altLang="en-US" sz="1400" dirty="0">
                <a:solidFill>
                  <a:schemeClr val="bg1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 ExtraLight" panose="00000300000000000000" charset="-122"/>
              </a:rPr>
              <a:t>远程控制和定时开关功能，满足节能与植物光照需求。</a:t>
            </a:r>
            <a:endParaRPr lang="zh-CN" altLang="en-US" sz="1400" dirty="0">
              <a:solidFill>
                <a:schemeClr val="bg1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 ExtraLight" panose="00000300000000000000" charset="-122"/>
            </a:endParaRPr>
          </a:p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3518985" y="1892384"/>
            <a:ext cx="2590663" cy="368300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rgbClr val="E34A6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光照与</a:t>
            </a:r>
            <a:r>
              <a:rPr lang="en-US" altLang="zh-CN" sz="1800" b="1" dirty="0">
                <a:solidFill>
                  <a:srgbClr val="E34A6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LED</a:t>
            </a:r>
            <a:endParaRPr lang="en-US" altLang="zh-CN" sz="1800" b="1" dirty="0">
              <a:solidFill>
                <a:srgbClr val="E34A6E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</p:txBody>
      </p:sp>
      <p:sp>
        <p:nvSpPr>
          <p:cNvPr id="11" name="Text 8"/>
          <p:cNvSpPr/>
          <p:nvPr>
            <p:custDataLst>
              <p:tags r:id="rId6"/>
            </p:custDataLst>
          </p:nvPr>
        </p:nvSpPr>
        <p:spPr>
          <a:xfrm>
            <a:off x="6507776" y="2898808"/>
            <a:ext cx="2292863" cy="114994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3V直流风扇，当二氧化碳浓度高于设定阈值时启动，进行通风换气，维持良好空气环境。</a:t>
            </a:r>
            <a:endParaRPr lang="en-US" sz="1600" dirty="0"/>
          </a:p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6507479" y="2195829"/>
            <a:ext cx="2282192" cy="27622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34A6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风扇</a:t>
            </a:r>
            <a:endParaRPr lang="en-US" sz="1600" dirty="0"/>
          </a:p>
        </p:txBody>
      </p:sp>
      <p:sp>
        <p:nvSpPr>
          <p:cNvPr id="13" name="Text 10"/>
          <p:cNvSpPr/>
          <p:nvPr>
            <p:custDataLst>
              <p:tags r:id="rId8"/>
            </p:custDataLst>
          </p:nvPr>
        </p:nvSpPr>
        <p:spPr>
          <a:xfrm>
            <a:off x="8913024" y="2088584"/>
            <a:ext cx="2628760" cy="862409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有源蜂鸣器，当传感器采集数据超过设定阈值时报警提醒，及时通知用户处理异常情况。</a:t>
            </a:r>
            <a:endParaRPr lang="en-US" sz="1600" dirty="0"/>
          </a:p>
        </p:txBody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8918738" y="1411077"/>
            <a:ext cx="2590662" cy="27622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34A6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蜂鸣器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68630" y="476250"/>
            <a:ext cx="11386820" cy="682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2F2F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执行机构模块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47:43-d0shojs75iks832je3l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10607675" cy="73939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 rot="16200000">
            <a:off x="8825230" y="516255"/>
            <a:ext cx="2173605" cy="9503410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16000">
                <a:srgbClr val="342390">
                  <a:alpha val="50000"/>
                </a:srgbClr>
              </a:gs>
              <a:gs pos="41000">
                <a:srgbClr val="342390">
                  <a:alpha val="40000"/>
                </a:srgbClr>
              </a:gs>
              <a:gs pos="90000">
                <a:srgbClr val="232322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34239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 rot="16200000">
            <a:off x="8825230" y="516255"/>
            <a:ext cx="2173605" cy="95034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 rot="16200000">
            <a:off x="8825230" y="-1892300"/>
            <a:ext cx="2173605" cy="9503410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4000">
                <a:srgbClr val="EE0447">
                  <a:alpha val="41000"/>
                </a:srgbClr>
              </a:gs>
              <a:gs pos="50000">
                <a:srgbClr val="E34A6E">
                  <a:alpha val="40000"/>
                </a:srgbClr>
              </a:gs>
              <a:gs pos="93000">
                <a:srgbClr val="232322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EE044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 rot="16200000">
            <a:off x="8825230" y="-1892300"/>
            <a:ext cx="2173605" cy="95034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501765" y="1988820"/>
            <a:ext cx="4886325" cy="1162685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OLED显示模块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501765" y="2500630"/>
            <a:ext cx="5083175" cy="1415415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采用0.96英寸SSD1306驱动芯片的OLED屏幕，I2C接口，128×64分辨率，低功耗，宽视角，可实时显示环境参数。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01765" y="4373880"/>
            <a:ext cx="4886325" cy="1162685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无线通信模块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01765" y="4885690"/>
            <a:ext cx="5083175" cy="1415415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ESP32-C3 WiFi模块，支持AT指令，实现手机APP远程监控与参数调节，方便用户随时随地掌握盆栽生长状况。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97890" y="476250"/>
            <a:ext cx="11386820" cy="682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2F2F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显示与通信模块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47:11-d0shobs75iks832je3cg.png"/>
          <p:cNvPicPr>
            <a:picLocks noChangeAspect="1"/>
          </p:cNvPicPr>
          <p:nvPr/>
        </p:nvPicPr>
        <p:blipFill>
          <a:blip r:embed="rId2"/>
          <a:srcRect l="14909" b="28"/>
          <a:stretch>
            <a:fillRect/>
          </a:stretch>
        </p:blipFill>
        <p:spPr>
          <a:xfrm>
            <a:off x="0" y="15240"/>
            <a:ext cx="12176760" cy="68440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47505" y="1416050"/>
            <a:ext cx="1582420" cy="13537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04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877243" y="2819717"/>
            <a:ext cx="4953000" cy="1183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软件开发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Image 1" descr="https://test-kimi-img.moonshot.cn/pub/slides/slides_tmpl/image/25-05-30-10:47:11-d0shobs75iks832je3cg.png"/>
          <p:cNvPicPr>
            <a:picLocks noChangeAspect="1"/>
          </p:cNvPicPr>
          <p:nvPr/>
        </p:nvPicPr>
        <p:blipFill>
          <a:blip r:embed="rId1"/>
          <a:srcRect l="14909" b="28"/>
          <a:stretch>
            <a:fillRect/>
          </a:stretch>
        </p:blipFill>
        <p:spPr>
          <a:xfrm>
            <a:off x="0" y="15240"/>
            <a:ext cx="12176760" cy="684403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654300" y="466090"/>
            <a:ext cx="56997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>
                <a:solidFill>
                  <a:schemeClr val="bg1"/>
                </a:solidFill>
                <a:latin typeface="MiSans" panose="00000500000000000000" pitchFamily="34" charset="-122"/>
                <a:ea typeface="MiSans" panose="00000500000000000000" pitchFamily="34" charset="-122"/>
                <a:sym typeface="MiSans" panose="00000500000000000000" pitchFamily="34" charset="-122"/>
              </a:rPr>
              <a:t>主程序流程图</a:t>
            </a:r>
            <a:endParaRPr lang="zh-CN" altLang="en-US" sz="3600">
              <a:solidFill>
                <a:schemeClr val="bg1"/>
              </a:solidFill>
              <a:latin typeface="MiSans" panose="00000500000000000000" pitchFamily="34" charset="-122"/>
              <a:ea typeface="MiSans" panose="00000500000000000000" pitchFamily="34" charset="-122"/>
              <a:sym typeface="MiSans" panose="00000500000000000000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" y="1466850"/>
            <a:ext cx="10220325" cy="46856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47:28-d0shog475iks832je3h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34" y="1889760"/>
            <a:ext cx="70265" cy="2160000"/>
          </a:xfrm>
          <a:prstGeom prst="rect">
            <a:avLst/>
          </a:prstGeom>
        </p:spPr>
      </p:pic>
      <p:pic>
        <p:nvPicPr>
          <p:cNvPr id="6" name="Image 2" descr="https://test-kimi-img.moonshot.cn/pub/slides/slides_tmpl/image/25-05-30-10:47:28-d0shog475iks832je3h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479" y="1896110"/>
            <a:ext cx="70265" cy="2160000"/>
          </a:xfrm>
          <a:prstGeom prst="rect">
            <a:avLst/>
          </a:prstGeom>
        </p:spPr>
      </p:pic>
      <p:pic>
        <p:nvPicPr>
          <p:cNvPr id="7" name="Image 3" descr="https://test-kimi-img.moonshot.cn/pub/slides/slides_tmpl/image/25-05-30-10:47:28-d0shog475iks832je3h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240" y="4024630"/>
            <a:ext cx="70485" cy="2160270"/>
          </a:xfrm>
          <a:prstGeom prst="rect">
            <a:avLst/>
          </a:prstGeom>
        </p:spPr>
      </p:pic>
      <p:pic>
        <p:nvPicPr>
          <p:cNvPr id="8" name="Image 4" descr="https://test-kimi-img.moonshot.cn/pub/slides/slides_tmpl/image/25-05-30-10:47:28-d0shog475iks832je3h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210" y="4024630"/>
            <a:ext cx="70485" cy="216027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983615" y="1920875"/>
            <a:ext cx="4833620" cy="797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数据采集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983615" y="2343150"/>
            <a:ext cx="4090035" cy="574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定时采集土壤湿度、温湿度、光照强度、二氧化碳浓度等数据，确保数据实时性与准确性。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6675120" y="1920875"/>
            <a:ext cx="4833620" cy="797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控制执行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6675120" y="2343150"/>
            <a:ext cx="4090035" cy="574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根据控制指令，智能控制水泵、补光灯、风扇等执行机构动作，实现自动化养护。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1445895" y="4289425"/>
            <a:ext cx="4833620" cy="797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数据处理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1445895" y="4737100"/>
            <a:ext cx="4090035" cy="574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对采集数据进行算法分析处理，判断是否达到设定阈值，生成控制指令。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7214870" y="4289425"/>
            <a:ext cx="4833620" cy="797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通信交互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7214870" y="4737100"/>
            <a:ext cx="4090035" cy="57487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通过ESP32-C3模块，实现与手机APP的数据传输与指令接收，支持远程监控与调节。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-2540" y="4032885"/>
            <a:ext cx="12169775" cy="0"/>
          </a:xfrm>
          <a:prstGeom prst="line">
            <a:avLst/>
          </a:prstGeom>
          <a:noFill/>
          <a:ln w="28575">
            <a:solidFill>
              <a:srgbClr val="770223"/>
            </a:solidFill>
            <a:prstDash val="dash"/>
            <a:headEnd type="none"/>
            <a:tailEnd type="none"/>
          </a:ln>
        </p:spPr>
      </p:sp>
      <p:sp>
        <p:nvSpPr>
          <p:cNvPr id="18" name="Text 11"/>
          <p:cNvSpPr/>
          <p:nvPr/>
        </p:nvSpPr>
        <p:spPr>
          <a:xfrm>
            <a:off x="681990" y="476250"/>
            <a:ext cx="11386820" cy="682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2F2F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程序功能设计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13105" y="1908175"/>
            <a:ext cx="10631805" cy="1004570"/>
          </a:xfrm>
          <a:custGeom>
            <a:avLst/>
            <a:gdLst/>
            <a:ahLst/>
            <a:cxnLst/>
            <a:rect l="l" t="t" r="r" b="b"/>
            <a:pathLst>
              <a:path w="10631805" h="1004570">
                <a:moveTo>
                  <a:pt x="0" y="1004570"/>
                </a:moveTo>
                <a:cubicBezTo>
                  <a:pt x="273685" y="877589"/>
                  <a:pt x="850900" y="466171"/>
                  <a:pt x="1570990" y="395697"/>
                </a:cubicBezTo>
                <a:cubicBezTo>
                  <a:pt x="2291080" y="325222"/>
                  <a:pt x="2812415" y="730926"/>
                  <a:pt x="3601085" y="652198"/>
                </a:cubicBezTo>
                <a:cubicBezTo>
                  <a:pt x="4389755" y="573470"/>
                  <a:pt x="4488180" y="-24610"/>
                  <a:pt x="5513705" y="786"/>
                </a:cubicBezTo>
                <a:cubicBezTo>
                  <a:pt x="6539230" y="26182"/>
                  <a:pt x="7706360" y="671245"/>
                  <a:pt x="8729980" y="780449"/>
                </a:cubicBezTo>
                <a:cubicBezTo>
                  <a:pt x="9753600" y="889652"/>
                  <a:pt x="10315575" y="608390"/>
                  <a:pt x="10631805" y="545534"/>
                </a:cubicBezTo>
              </a:path>
            </a:pathLst>
          </a:custGeom>
          <a:solidFill>
            <a:srgbClr val="000000">
              <a:alpha val="0"/>
            </a:srgbClr>
          </a:solidFill>
          <a:ln w="28575">
            <a:solidFill>
              <a:srgbClr val="77022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105" y="1908175"/>
            <a:ext cx="10631805" cy="10045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004695" y="2007235"/>
            <a:ext cx="638175" cy="638175"/>
          </a:xfrm>
          <a:prstGeom prst="ellipse">
            <a:avLst/>
          </a:prstGeom>
          <a:gradFill flip="none" rotWithShape="1">
            <a:gsLst>
              <a:gs pos="10000">
                <a:srgbClr val="EE92A7"/>
              </a:gs>
              <a:gs pos="56000">
                <a:srgbClr val="C31E45"/>
              </a:gs>
              <a:gs pos="100000">
                <a:srgbClr val="000000"/>
              </a:gs>
            </a:gsLst>
            <a:lin ang="2700000" scaled="1"/>
          </a:gradFill>
          <a:effectLst>
            <a:outerShdw blurRad="290837" dist="50607" dir="2700000" algn="bl" rotWithShape="0">
              <a:srgbClr val="EE0447">
                <a:alpha val="6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004695" y="2007235"/>
            <a:ext cx="638175" cy="638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91360" y="2143125"/>
            <a:ext cx="664845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72785" y="1570990"/>
            <a:ext cx="637540" cy="638175"/>
          </a:xfrm>
          <a:prstGeom prst="ellipse">
            <a:avLst/>
          </a:prstGeom>
          <a:gradFill flip="none" rotWithShape="1">
            <a:gsLst>
              <a:gs pos="10000">
                <a:srgbClr val="725FD8"/>
              </a:gs>
              <a:gs pos="56000">
                <a:srgbClr val="271A6C"/>
              </a:gs>
              <a:gs pos="100000">
                <a:srgbClr val="000000"/>
              </a:gs>
            </a:gsLst>
            <a:lin ang="2700000" scaled="1"/>
          </a:gradFill>
          <a:effectLst>
            <a:outerShdw blurRad="290837" dist="50607" dir="2700000" algn="bl" rotWithShape="0">
              <a:srgbClr val="342390">
                <a:alpha val="6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72785" y="1570990"/>
            <a:ext cx="637540" cy="638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46115" y="1737360"/>
            <a:ext cx="664845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540240" y="2394585"/>
            <a:ext cx="637540" cy="638175"/>
          </a:xfrm>
          <a:prstGeom prst="ellipse">
            <a:avLst/>
          </a:prstGeom>
          <a:gradFill flip="none" rotWithShape="1">
            <a:gsLst>
              <a:gs pos="10000">
                <a:srgbClr val="EE92A7"/>
              </a:gs>
              <a:gs pos="56000">
                <a:srgbClr val="C31E45"/>
              </a:gs>
              <a:gs pos="100000">
                <a:srgbClr val="000000"/>
              </a:gs>
            </a:gsLst>
            <a:lin ang="2700000" scaled="1"/>
          </a:gradFill>
          <a:effectLst>
            <a:outerShdw blurRad="290837" dist="50607" dir="2700000" algn="bl" rotWithShape="0">
              <a:srgbClr val="EE0447">
                <a:alpha val="6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540240" y="2394585"/>
            <a:ext cx="637540" cy="638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526270" y="2560955"/>
            <a:ext cx="664845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9130" y="3448685"/>
            <a:ext cx="3490595" cy="7004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初始化流程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68971" y="3830955"/>
            <a:ext cx="3470913" cy="574873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系统上电后，初始化各硬件模块，配置通信参数，进入待机状态。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408805" y="2708910"/>
            <a:ext cx="3490595" cy="7004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主循环流程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452303" y="3091814"/>
            <a:ext cx="3403600" cy="862409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在主循环中，依次执行数据采集、数据处理、控制执行、通信交互任务，循环运行，确保系统稳定运行。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157687" y="3430270"/>
            <a:ext cx="3490595" cy="7004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中断处理流程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201184" y="3813176"/>
            <a:ext cx="3403600" cy="862409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配置定时器中断，实现定时任务，如定时采集数据、定时刷新显示等，提高系统实时性。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68630" y="476250"/>
            <a:ext cx="11386820" cy="682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2F2F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程序流程设计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37540" y="1656080"/>
            <a:ext cx="11016615" cy="1618615"/>
          </a:xfrm>
          <a:prstGeom prst="roundRect">
            <a:avLst>
              <a:gd name="adj" fmla="val 2679"/>
            </a:avLst>
          </a:prstGeom>
          <a:gradFill flip="none" rotWithShape="1">
            <a:gsLst>
              <a:gs pos="4000">
                <a:srgbClr val="EE0447">
                  <a:alpha val="41000"/>
                </a:srgbClr>
              </a:gs>
              <a:gs pos="50000">
                <a:srgbClr val="E34A6E">
                  <a:alpha val="40000"/>
                </a:srgbClr>
              </a:gs>
              <a:gs pos="93000">
                <a:srgbClr val="232322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EE04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7540" y="1656080"/>
            <a:ext cx="11016615" cy="16186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1484" y="2371725"/>
            <a:ext cx="10341056" cy="104648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将程序分为数据采集模块、数据处理模块、控制执行模块、通信交互模块等，各模块独立运行，便于开发与维护。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71484" y="1774825"/>
            <a:ext cx="10424875" cy="5969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模块化设计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48425" y="3640455"/>
            <a:ext cx="5205730" cy="2305050"/>
          </a:xfrm>
          <a:prstGeom prst="roundRect">
            <a:avLst>
              <a:gd name="adj" fmla="val 2679"/>
            </a:avLst>
          </a:prstGeom>
          <a:gradFill flip="none" rotWithShape="1">
            <a:gsLst>
              <a:gs pos="16000">
                <a:srgbClr val="342390">
                  <a:alpha val="50000"/>
                </a:srgbClr>
              </a:gs>
              <a:gs pos="41000">
                <a:srgbClr val="342390">
                  <a:alpha val="40000"/>
                </a:srgbClr>
              </a:gs>
              <a:gs pos="90000">
                <a:srgbClr val="232322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3423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8425" y="3640455"/>
            <a:ext cx="5205730" cy="23050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04748" y="3754755"/>
            <a:ext cx="4044891" cy="546100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优化设计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04748" y="4267200"/>
            <a:ext cx="4511458" cy="180848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优化算法，减少计算量，提高程序运行效率；合理分配内存，降低系统资源占用，提升系统稳定性。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37540" y="3640455"/>
            <a:ext cx="5205730" cy="2305050"/>
          </a:xfrm>
          <a:prstGeom prst="roundRect">
            <a:avLst>
              <a:gd name="adj" fmla="val 2679"/>
            </a:avLst>
          </a:prstGeom>
          <a:gradFill flip="none" rotWithShape="1">
            <a:gsLst>
              <a:gs pos="16000">
                <a:srgbClr val="342390">
                  <a:alpha val="50000"/>
                </a:srgbClr>
              </a:gs>
              <a:gs pos="41000">
                <a:srgbClr val="342390">
                  <a:alpha val="40000"/>
                </a:srgbClr>
              </a:gs>
              <a:gs pos="90000">
                <a:srgbClr val="232322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3423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7540" y="3640455"/>
            <a:ext cx="5205730" cy="23050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93863" y="3754755"/>
            <a:ext cx="4044891" cy="546100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层次化设计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93863" y="4267200"/>
            <a:ext cx="4511458" cy="180848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采用层次化设计思想，将系统分为硬件驱动层、功能实现层、应用层，层次分明，易于扩展与升级。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90550" y="476250"/>
            <a:ext cx="11386820" cy="682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2F2F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软件架构设计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47:11-d0shobs75iks832je3cg.png"/>
          <p:cNvPicPr>
            <a:picLocks noChangeAspect="1"/>
          </p:cNvPicPr>
          <p:nvPr/>
        </p:nvPicPr>
        <p:blipFill>
          <a:blip r:embed="rId2"/>
          <a:srcRect l="14909" b="28"/>
          <a:stretch>
            <a:fillRect/>
          </a:stretch>
        </p:blipFill>
        <p:spPr>
          <a:xfrm>
            <a:off x="0" y="15240"/>
            <a:ext cx="12176760" cy="68440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3555" y="5657215"/>
            <a:ext cx="176276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9247505" y="1416050"/>
            <a:ext cx="1582420" cy="13537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05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877243" y="2819717"/>
            <a:ext cx="4953000" cy="1183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系统调试与结果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9768840" y="1196975"/>
            <a:ext cx="4304030" cy="4304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7" name="Image 1" descr="https://test-kimi-img.moonshot.cn/pub/slides/slides_tmpl/image/25-05-30-10:47:47-d0shoks75iks832je3lg.pn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13335"/>
            <a:ext cx="5393055" cy="6858000"/>
          </a:xfrm>
          <a:prstGeom prst="rect">
            <a:avLst/>
          </a:prstGeom>
        </p:spPr>
      </p:pic>
      <p:sp>
        <p:nvSpPr>
          <p:cNvPr id="8" name="Text 4"/>
          <p:cNvSpPr/>
          <p:nvPr>
            <p:custDataLst>
              <p:tags r:id="rId3"/>
            </p:custDataLst>
          </p:nvPr>
        </p:nvSpPr>
        <p:spPr>
          <a:xfrm>
            <a:off x="6492875" y="2611755"/>
            <a:ext cx="5092700" cy="368300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E34A6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执行机构调试</a:t>
            </a:r>
            <a:endParaRPr lang="en-US" sz="1600" dirty="0"/>
          </a:p>
        </p:txBody>
      </p:sp>
      <p:sp>
        <p:nvSpPr>
          <p:cNvPr id="9" name="Text 5"/>
          <p:cNvSpPr/>
          <p:nvPr>
            <p:custDataLst>
              <p:tags r:id="rId4"/>
            </p:custDataLst>
          </p:nvPr>
        </p:nvSpPr>
        <p:spPr>
          <a:xfrm>
            <a:off x="6492240" y="3093085"/>
            <a:ext cx="5083175" cy="148463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测试</a:t>
            </a:r>
            <a:r>
              <a:rPr lang="zh-CN" alt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电机</a:t>
            </a: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、补光灯、风扇、蜂鸣器等执行机构，确保动作正常，响应快速。</a:t>
            </a:r>
            <a:endParaRPr lang="en-US" sz="1600" dirty="0"/>
          </a:p>
        </p:txBody>
      </p:sp>
      <p:sp>
        <p:nvSpPr>
          <p:cNvPr id="10" name="Text 6"/>
          <p:cNvSpPr/>
          <p:nvPr>
            <p:custDataLst>
              <p:tags r:id="rId5"/>
            </p:custDataLst>
          </p:nvPr>
        </p:nvSpPr>
        <p:spPr>
          <a:xfrm>
            <a:off x="5768975" y="4599940"/>
            <a:ext cx="5092700" cy="368300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E34A6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通信模块调试</a:t>
            </a:r>
            <a:endParaRPr lang="en-US" sz="1600" dirty="0"/>
          </a:p>
        </p:txBody>
      </p:sp>
      <p:sp>
        <p:nvSpPr>
          <p:cNvPr id="11" name="Text 7"/>
          <p:cNvSpPr/>
          <p:nvPr>
            <p:custDataLst>
              <p:tags r:id="rId6"/>
            </p:custDataLst>
          </p:nvPr>
        </p:nvSpPr>
        <p:spPr>
          <a:xfrm>
            <a:off x="5768340" y="5081270"/>
            <a:ext cx="5083175" cy="148463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验证ESP32-C3模块的通信功能，确保数据传输稳定可靠，通信距离满足需求。</a:t>
            </a:r>
            <a:endParaRPr lang="en-US" sz="1600" dirty="0"/>
          </a:p>
        </p:txBody>
      </p:sp>
      <p:sp>
        <p:nvSpPr>
          <p:cNvPr id="12" name="Text 8"/>
          <p:cNvSpPr/>
          <p:nvPr>
            <p:custDataLst>
              <p:tags r:id="rId7"/>
            </p:custDataLst>
          </p:nvPr>
        </p:nvSpPr>
        <p:spPr>
          <a:xfrm>
            <a:off x="5768340" y="622935"/>
            <a:ext cx="5092700" cy="368300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E34A6E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传感器调试</a:t>
            </a:r>
            <a:endParaRPr lang="en-US" sz="1600" dirty="0"/>
          </a:p>
        </p:txBody>
      </p:sp>
      <p:sp>
        <p:nvSpPr>
          <p:cNvPr id="13" name="Text 9"/>
          <p:cNvSpPr/>
          <p:nvPr>
            <p:custDataLst>
              <p:tags r:id="rId8"/>
            </p:custDataLst>
          </p:nvPr>
        </p:nvSpPr>
        <p:spPr>
          <a:xfrm>
            <a:off x="5768340" y="1104265"/>
            <a:ext cx="5083175" cy="148590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对各传感器进行单独调试，确保输出数据准确稳定，误差在允许范围内。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97535" y="2781300"/>
            <a:ext cx="4161790" cy="183769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2F2F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硬件调试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9768840" y="1196975"/>
            <a:ext cx="4304030" cy="4304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rot="16200000">
            <a:off x="6962775" y="-4806315"/>
            <a:ext cx="1484630" cy="1397698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42390">
              <a:alpha val="12941"/>
            </a:srgbClr>
          </a:solidFill>
        </p:spPr>
      </p:sp>
      <p:sp>
        <p:nvSpPr>
          <p:cNvPr id="8" name="Text 5"/>
          <p:cNvSpPr/>
          <p:nvPr/>
        </p:nvSpPr>
        <p:spPr>
          <a:xfrm rot="16200000">
            <a:off x="6962775" y="-4806315"/>
            <a:ext cx="1484630" cy="139769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65225" y="1904365"/>
            <a:ext cx="638175" cy="638175"/>
          </a:xfrm>
          <a:prstGeom prst="ellipse">
            <a:avLst/>
          </a:prstGeom>
          <a:gradFill flip="none" rotWithShape="1">
            <a:gsLst>
              <a:gs pos="10000">
                <a:srgbClr val="EE92A7"/>
              </a:gs>
              <a:gs pos="56000">
                <a:srgbClr val="C31E45"/>
              </a:gs>
              <a:gs pos="100000">
                <a:srgbClr val="000000"/>
              </a:gs>
            </a:gsLst>
            <a:lin ang="2700000" scaled="1"/>
          </a:gradFill>
          <a:effectLst>
            <a:outerShdw blurRad="290837" dist="50607" dir="2700000" algn="bl" rotWithShape="0">
              <a:srgbClr val="EE0447">
                <a:alpha val="6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165225" y="1904365"/>
            <a:ext cx="638175" cy="638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165225" y="2075180"/>
            <a:ext cx="664845" cy="29591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1165225" y="2075180"/>
            <a:ext cx="664845" cy="295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025650" y="1485900"/>
            <a:ext cx="4182110" cy="27622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单元测试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025650" y="1840230"/>
            <a:ext cx="7555230" cy="287338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对各功能模块进行单元测试，确保模块功能正常，无逻辑错误。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 rot="16200000">
            <a:off x="7129145" y="-2388870"/>
            <a:ext cx="1484630" cy="1255395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E0447">
              <a:alpha val="12941"/>
            </a:srgbClr>
          </a:solidFill>
        </p:spPr>
      </p:sp>
      <p:sp>
        <p:nvSpPr>
          <p:cNvPr id="16" name="Text 13"/>
          <p:cNvSpPr/>
          <p:nvPr/>
        </p:nvSpPr>
        <p:spPr>
          <a:xfrm rot="16200000">
            <a:off x="7129145" y="-2388870"/>
            <a:ext cx="1484630" cy="125539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077720" y="3559810"/>
            <a:ext cx="638175" cy="638175"/>
          </a:xfrm>
          <a:prstGeom prst="ellipse">
            <a:avLst/>
          </a:prstGeom>
          <a:gradFill flip="none" rotWithShape="1">
            <a:gsLst>
              <a:gs pos="10000">
                <a:srgbClr val="725FD8"/>
              </a:gs>
              <a:gs pos="56000">
                <a:srgbClr val="271A6C"/>
              </a:gs>
              <a:gs pos="100000">
                <a:srgbClr val="000000"/>
              </a:gs>
            </a:gsLst>
            <a:lin ang="2700000" scaled="1"/>
          </a:gradFill>
          <a:effectLst>
            <a:outerShdw blurRad="290837" dist="50607" dir="2700000" algn="bl" rotWithShape="0">
              <a:srgbClr val="342390">
                <a:alpha val="6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077720" y="3559810"/>
            <a:ext cx="638175" cy="638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051050" y="3730943"/>
            <a:ext cx="664845" cy="29591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0" name="Text 17"/>
          <p:cNvSpPr/>
          <p:nvPr/>
        </p:nvSpPr>
        <p:spPr>
          <a:xfrm>
            <a:off x="2051050" y="3730943"/>
            <a:ext cx="664845" cy="295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02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855595" y="3249930"/>
            <a:ext cx="4182110" cy="27622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集成测试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855595" y="3604260"/>
            <a:ext cx="7555230" cy="287338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将各模块集成后进行测试，确保模块间协同工作正常，数据交互无误。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 rot="16200000">
            <a:off x="7332345" y="139065"/>
            <a:ext cx="1484630" cy="1094105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42390">
              <a:alpha val="12941"/>
            </a:srgbClr>
          </a:solidFill>
        </p:spPr>
      </p:sp>
      <p:sp>
        <p:nvSpPr>
          <p:cNvPr id="24" name="Text 21"/>
          <p:cNvSpPr/>
          <p:nvPr/>
        </p:nvSpPr>
        <p:spPr>
          <a:xfrm rot="16200000">
            <a:off x="7332345" y="139065"/>
            <a:ext cx="1484630" cy="109410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072130" y="5339080"/>
            <a:ext cx="638175" cy="638175"/>
          </a:xfrm>
          <a:prstGeom prst="ellipse">
            <a:avLst/>
          </a:prstGeom>
          <a:gradFill flip="none" rotWithShape="1">
            <a:gsLst>
              <a:gs pos="10000">
                <a:srgbClr val="EE92A7"/>
              </a:gs>
              <a:gs pos="56000">
                <a:srgbClr val="C31E45"/>
              </a:gs>
              <a:gs pos="100000">
                <a:srgbClr val="000000"/>
              </a:gs>
            </a:gsLst>
            <a:lin ang="2700000" scaled="1"/>
          </a:gradFill>
          <a:effectLst>
            <a:outerShdw blurRad="290837" dist="50607" dir="2700000" algn="bl" rotWithShape="0">
              <a:srgbClr val="EE0447">
                <a:alpha val="6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072130" y="5339080"/>
            <a:ext cx="638175" cy="638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058795" y="5510213"/>
            <a:ext cx="664845" cy="29591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8" name="Text 25"/>
          <p:cNvSpPr/>
          <p:nvPr/>
        </p:nvSpPr>
        <p:spPr>
          <a:xfrm>
            <a:off x="3058795" y="5510213"/>
            <a:ext cx="664845" cy="295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03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035425" y="4953000"/>
            <a:ext cx="4182110" cy="27622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系统测试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035425" y="5307330"/>
            <a:ext cx="7555230" cy="287338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在实际环境下进行系统测试，模拟各种场景，验证系统整体性能，确保满足设计要求。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97890" y="476250"/>
            <a:ext cx="11386820" cy="682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2F2F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软件调试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78485" y="3972696"/>
            <a:ext cx="5320657" cy="2365874"/>
          </a:xfrm>
          <a:prstGeom prst="snip1Rect">
            <a:avLst>
              <a:gd name="adj" fmla="val 41715"/>
            </a:avLst>
          </a:prstGeom>
          <a:gradFill flip="none" rotWithShape="1">
            <a:gsLst>
              <a:gs pos="16000">
                <a:srgbClr val="232322">
                  <a:alpha val="0"/>
                </a:srgbClr>
              </a:gs>
              <a:gs pos="71000">
                <a:srgbClr val="342390">
                  <a:alpha val="40000"/>
                </a:srgbClr>
              </a:gs>
              <a:gs pos="100000">
                <a:srgbClr val="342390">
                  <a:alpha val="50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3423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8485" y="3972696"/>
            <a:ext cx="5320657" cy="236587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flipV="1">
            <a:off x="578485" y="1488440"/>
            <a:ext cx="5320657" cy="2365874"/>
          </a:xfrm>
          <a:prstGeom prst="snip1Rect">
            <a:avLst>
              <a:gd name="adj" fmla="val 41715"/>
            </a:avLst>
          </a:prstGeom>
          <a:gradFill flip="none" rotWithShape="1">
            <a:gsLst>
              <a:gs pos="16000">
                <a:srgbClr val="232322">
                  <a:alpha val="0"/>
                </a:srgbClr>
              </a:gs>
              <a:gs pos="71000">
                <a:srgbClr val="E34A6E">
                  <a:alpha val="40000"/>
                </a:srgbClr>
              </a:gs>
              <a:gs pos="100000">
                <a:srgbClr val="EE0447">
                  <a:alpha val="41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EE04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8485" y="1488440"/>
            <a:ext cx="5320657" cy="236587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flipH="1">
            <a:off x="6298573" y="3972696"/>
            <a:ext cx="5320657" cy="2365874"/>
          </a:xfrm>
          <a:prstGeom prst="snip1Rect">
            <a:avLst>
              <a:gd name="adj" fmla="val 41715"/>
            </a:avLst>
          </a:prstGeom>
          <a:gradFill flip="none" rotWithShape="1">
            <a:gsLst>
              <a:gs pos="16000">
                <a:srgbClr val="232322">
                  <a:alpha val="0"/>
                </a:srgbClr>
              </a:gs>
              <a:gs pos="71000">
                <a:srgbClr val="E34A6E">
                  <a:alpha val="40000"/>
                </a:srgbClr>
              </a:gs>
              <a:gs pos="100000">
                <a:srgbClr val="EE0447">
                  <a:alpha val="41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EE04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98573" y="3972696"/>
            <a:ext cx="5320657" cy="236587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 flipH="1" flipV="1">
            <a:off x="6298573" y="1506518"/>
            <a:ext cx="5320657" cy="2365874"/>
          </a:xfrm>
          <a:prstGeom prst="snip1Rect">
            <a:avLst>
              <a:gd name="adj" fmla="val 41715"/>
            </a:avLst>
          </a:prstGeom>
          <a:gradFill flip="none" rotWithShape="1">
            <a:gsLst>
              <a:gs pos="16000">
                <a:srgbClr val="232322">
                  <a:alpha val="0"/>
                </a:srgbClr>
              </a:gs>
              <a:gs pos="71000">
                <a:srgbClr val="342390">
                  <a:alpha val="40000"/>
                </a:srgbClr>
              </a:gs>
              <a:gs pos="100000">
                <a:srgbClr val="342390">
                  <a:alpha val="50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3423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98573" y="1506518"/>
            <a:ext cx="5320657" cy="236587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1089" y="2054687"/>
            <a:ext cx="4287816" cy="59749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系统能够实时准确监测环境数据，OLED显示清晰，数据刷新及时，与实际环境变化同步。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21089" y="1623733"/>
            <a:ext cx="4639480" cy="27622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环境数据监测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21089" y="4525530"/>
            <a:ext cx="4287816" cy="896144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当环境数据超过设定阈值时，系统自动启动相应执行机构，控制精准，响应迅速，有效改善盆栽生长环境。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21089" y="4117902"/>
            <a:ext cx="4639480" cy="27622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自动控制功能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176349" y="4525530"/>
            <a:ext cx="4287816" cy="59749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经长时间运行测试，系统稳定可靠，无死机、数据丢失等现象，满足长期稳定运行需求。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129969" y="4117902"/>
            <a:ext cx="4381962" cy="27622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系统稳定性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176349" y="2054687"/>
            <a:ext cx="4287816" cy="896144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手机APP能够远程实时监控环境数据，接收数据准确无误；用户可通过APP远程调节参数，控制执行机构，操作便捷。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129969" y="1623733"/>
            <a:ext cx="4381962" cy="27622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远程监控功能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78485" y="476250"/>
            <a:ext cx="11386820" cy="682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2F2F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测试结果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751940" y="4240259"/>
            <a:ext cx="687070" cy="347616"/>
          </a:xfrm>
          <a:custGeom>
            <a:avLst/>
            <a:gdLst/>
            <a:ahLst/>
            <a:cxnLst/>
            <a:rect l="l" t="t" r="r" b="b"/>
            <a:pathLst>
              <a:path w="687070" h="347616">
                <a:moveTo>
                  <a:pt x="687070" y="247975"/>
                </a:moveTo>
                <a:lnTo>
                  <a:pt x="76692" y="34761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">
                <a:srgbClr val="E9718E"/>
              </a:gs>
              <a:gs pos="78000">
                <a:srgbClr val="DF335B"/>
              </a:gs>
            </a:gsLst>
            <a:lin ang="16200000" scaled="1"/>
          </a:gradFill>
        </p:spPr>
      </p:sp>
      <p:sp>
        <p:nvSpPr>
          <p:cNvPr id="23" name="Text 20"/>
          <p:cNvSpPr/>
          <p:nvPr/>
        </p:nvSpPr>
        <p:spPr>
          <a:xfrm>
            <a:off x="5751940" y="4240259"/>
            <a:ext cx="687070" cy="34761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378450" y="4008695"/>
            <a:ext cx="450131" cy="579180"/>
          </a:xfrm>
          <a:custGeom>
            <a:avLst/>
            <a:gdLst/>
            <a:ahLst/>
            <a:cxnLst/>
            <a:rect l="l" t="t" r="r" b="b"/>
            <a:pathLst>
              <a:path w="450131" h="579180">
                <a:moveTo>
                  <a:pt x="0" y="0"/>
                </a:moveTo>
                <a:lnTo>
                  <a:pt x="373455" y="231402"/>
                </a:lnTo>
                <a:lnTo>
                  <a:pt x="450131" y="579180"/>
                </a:lnTo>
                <a:close/>
              </a:path>
            </a:pathLst>
          </a:custGeom>
          <a:gradFill flip="none" rotWithShape="1">
            <a:gsLst>
              <a:gs pos="19000">
                <a:srgbClr val="EE92A7"/>
              </a:gs>
              <a:gs pos="92000">
                <a:srgbClr val="E34A6E"/>
              </a:gs>
            </a:gsLst>
            <a:lin ang="0" scaled="1"/>
          </a:gradFill>
        </p:spPr>
      </p:sp>
      <p:sp>
        <p:nvSpPr>
          <p:cNvPr id="25" name="Text 22"/>
          <p:cNvSpPr/>
          <p:nvPr/>
        </p:nvSpPr>
        <p:spPr>
          <a:xfrm>
            <a:off x="5378450" y="4008695"/>
            <a:ext cx="450131" cy="5791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378450" y="3472157"/>
            <a:ext cx="373490" cy="768102"/>
          </a:xfrm>
          <a:custGeom>
            <a:avLst/>
            <a:gdLst/>
            <a:ahLst/>
            <a:cxnLst/>
            <a:rect l="l" t="t" r="r" b="b"/>
            <a:pathLst>
              <a:path w="373490" h="768102">
                <a:moveTo>
                  <a:pt x="0" y="536589"/>
                </a:moveTo>
                <a:lnTo>
                  <a:pt x="293199" y="0"/>
                </a:lnTo>
                <a:lnTo>
                  <a:pt x="373490" y="768102"/>
                </a:lnTo>
                <a:close/>
              </a:path>
            </a:pathLst>
          </a:custGeom>
          <a:gradFill flip="none" rotWithShape="1">
            <a:gsLst>
              <a:gs pos="0">
                <a:srgbClr val="F1A4B6"/>
              </a:gs>
              <a:gs pos="100000">
                <a:srgbClr val="E76382"/>
              </a:gs>
            </a:gsLst>
            <a:lin ang="600000" scaled="1"/>
          </a:gradFill>
        </p:spPr>
      </p:sp>
      <p:sp>
        <p:nvSpPr>
          <p:cNvPr id="27" name="Text 24"/>
          <p:cNvSpPr/>
          <p:nvPr/>
        </p:nvSpPr>
        <p:spPr>
          <a:xfrm>
            <a:off x="5378450" y="3472157"/>
            <a:ext cx="373490" cy="76810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751940" y="3755000"/>
            <a:ext cx="687070" cy="733017"/>
          </a:xfrm>
          <a:custGeom>
            <a:avLst/>
            <a:gdLst/>
            <a:ahLst/>
            <a:cxnLst/>
            <a:rect l="l" t="t" r="r" b="b"/>
            <a:pathLst>
              <a:path w="687070" h="733017">
                <a:moveTo>
                  <a:pt x="656394" y="0"/>
                </a:moveTo>
                <a:lnTo>
                  <a:pt x="687070" y="733017"/>
                </a:lnTo>
                <a:lnTo>
                  <a:pt x="0" y="484919"/>
                </a:lnTo>
                <a:close/>
              </a:path>
            </a:pathLst>
          </a:custGeom>
          <a:gradFill flip="none" rotWithShape="1">
            <a:gsLst>
              <a:gs pos="36000">
                <a:srgbClr val="C31E45"/>
              </a:gs>
              <a:gs pos="100000">
                <a:srgbClr val="EB8099"/>
              </a:gs>
            </a:gsLst>
            <a:lin ang="1800000" scaled="1"/>
          </a:gradFill>
        </p:spPr>
      </p:sp>
      <p:sp>
        <p:nvSpPr>
          <p:cNvPr id="29" name="Text 26"/>
          <p:cNvSpPr/>
          <p:nvPr/>
        </p:nvSpPr>
        <p:spPr>
          <a:xfrm>
            <a:off x="5751940" y="3755000"/>
            <a:ext cx="687070" cy="73301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337542" y="3295650"/>
            <a:ext cx="436638" cy="597533"/>
          </a:xfrm>
          <a:custGeom>
            <a:avLst/>
            <a:gdLst/>
            <a:ahLst/>
            <a:cxnLst/>
            <a:rect l="l" t="t" r="r" b="b"/>
            <a:pathLst>
              <a:path w="436638" h="597533">
                <a:moveTo>
                  <a:pt x="70818" y="459432"/>
                </a:moveTo>
                <a:lnTo>
                  <a:pt x="0" y="0"/>
                </a:lnTo>
                <a:lnTo>
                  <a:pt x="436638" y="597533"/>
                </a:lnTo>
                <a:close/>
              </a:path>
            </a:pathLst>
          </a:custGeom>
          <a:gradFill flip="none" rotWithShape="1">
            <a:gsLst>
              <a:gs pos="1000">
                <a:srgbClr val="EE92A7"/>
              </a:gs>
              <a:gs pos="92000">
                <a:srgbClr val="E34A6E"/>
              </a:gs>
            </a:gsLst>
            <a:lin ang="9600000" scaled="1"/>
          </a:gradFill>
        </p:spPr>
      </p:sp>
      <p:sp>
        <p:nvSpPr>
          <p:cNvPr id="31" name="Text 28"/>
          <p:cNvSpPr/>
          <p:nvPr/>
        </p:nvSpPr>
        <p:spPr>
          <a:xfrm>
            <a:off x="6337542" y="3295650"/>
            <a:ext cx="436638" cy="59753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408246" y="3755000"/>
            <a:ext cx="365934" cy="733017"/>
          </a:xfrm>
          <a:custGeom>
            <a:avLst/>
            <a:gdLst/>
            <a:ahLst/>
            <a:cxnLst/>
            <a:rect l="l" t="t" r="r" b="b"/>
            <a:pathLst>
              <a:path w="365934" h="733017">
                <a:moveTo>
                  <a:pt x="0" y="0"/>
                </a:moveTo>
                <a:lnTo>
                  <a:pt x="365934" y="138033"/>
                </a:lnTo>
                <a:lnTo>
                  <a:pt x="30683" y="733017"/>
                </a:lnTo>
                <a:close/>
              </a:path>
            </a:pathLst>
          </a:custGeom>
          <a:gradFill flip="none" rotWithShape="1">
            <a:gsLst>
              <a:gs pos="28000">
                <a:srgbClr val="C31E45"/>
              </a:gs>
              <a:gs pos="100000">
                <a:srgbClr val="EB8099"/>
              </a:gs>
            </a:gsLst>
            <a:lin ang="21600000" scaled="1"/>
          </a:gradFill>
        </p:spPr>
      </p:sp>
      <p:sp>
        <p:nvSpPr>
          <p:cNvPr id="33" name="Text 30"/>
          <p:cNvSpPr/>
          <p:nvPr/>
        </p:nvSpPr>
        <p:spPr>
          <a:xfrm>
            <a:off x="6408246" y="3755000"/>
            <a:ext cx="365934" cy="73301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671521" y="3295650"/>
            <a:ext cx="736725" cy="459350"/>
          </a:xfrm>
          <a:custGeom>
            <a:avLst/>
            <a:gdLst/>
            <a:ahLst/>
            <a:cxnLst/>
            <a:rect l="l" t="t" r="r" b="b"/>
            <a:pathLst>
              <a:path w="736725" h="459350">
                <a:moveTo>
                  <a:pt x="0" y="176430"/>
                </a:moveTo>
                <a:lnTo>
                  <a:pt x="665895" y="0"/>
                </a:lnTo>
                <a:lnTo>
                  <a:pt x="736725" y="459350"/>
                </a:lnTo>
                <a:close/>
              </a:path>
            </a:pathLst>
          </a:custGeom>
          <a:gradFill flip="none" rotWithShape="1">
            <a:gsLst>
              <a:gs pos="0">
                <a:srgbClr val="F09BAF"/>
              </a:gs>
              <a:gs pos="100000">
                <a:srgbClr val="E34A6E"/>
              </a:gs>
            </a:gsLst>
            <a:lin ang="7200000" scaled="1"/>
          </a:gradFill>
        </p:spPr>
      </p:sp>
      <p:sp>
        <p:nvSpPr>
          <p:cNvPr id="35" name="Text 32"/>
          <p:cNvSpPr/>
          <p:nvPr/>
        </p:nvSpPr>
        <p:spPr>
          <a:xfrm>
            <a:off x="5671521" y="3295650"/>
            <a:ext cx="736725" cy="4593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5671521" y="3472157"/>
            <a:ext cx="736725" cy="768102"/>
          </a:xfrm>
          <a:custGeom>
            <a:avLst/>
            <a:gdLst/>
            <a:ahLst/>
            <a:cxnLst/>
            <a:rect l="l" t="t" r="r" b="b"/>
            <a:pathLst>
              <a:path w="736725" h="768102">
                <a:moveTo>
                  <a:pt x="0" y="0"/>
                </a:moveTo>
                <a:lnTo>
                  <a:pt x="736725" y="282961"/>
                </a:lnTo>
                <a:lnTo>
                  <a:pt x="80304" y="768102"/>
                </a:lnTo>
                <a:close/>
              </a:path>
            </a:pathLst>
          </a:custGeom>
          <a:gradFill flip="none" rotWithShape="1">
            <a:gsLst>
              <a:gs pos="0">
                <a:srgbClr val="F5BFCB"/>
              </a:gs>
              <a:gs pos="100000">
                <a:srgbClr val="EA748F"/>
              </a:gs>
            </a:gsLst>
            <a:lin ang="2700000" scaled="1"/>
          </a:gradFill>
        </p:spPr>
      </p:sp>
      <p:sp>
        <p:nvSpPr>
          <p:cNvPr id="37" name="Text 34"/>
          <p:cNvSpPr/>
          <p:nvPr/>
        </p:nvSpPr>
        <p:spPr>
          <a:xfrm>
            <a:off x="5671521" y="3472157"/>
            <a:ext cx="736725" cy="76810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47:11-d0shobs75iks832je3cg.png"/>
          <p:cNvPicPr>
            <a:picLocks noChangeAspect="1"/>
          </p:cNvPicPr>
          <p:nvPr/>
        </p:nvPicPr>
        <p:blipFill>
          <a:blip r:embed="rId2"/>
          <a:srcRect l="14909" b="28"/>
          <a:stretch>
            <a:fillRect/>
          </a:stretch>
        </p:blipFill>
        <p:spPr>
          <a:xfrm>
            <a:off x="0" y="15240"/>
            <a:ext cx="12176760" cy="68440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3555" y="5657215"/>
            <a:ext cx="176276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9247505" y="1416050"/>
            <a:ext cx="1582420" cy="13537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06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877243" y="2819717"/>
            <a:ext cx="4953000" cy="1183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总结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384675" y="2061210"/>
            <a:ext cx="3399155" cy="8258810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4000">
                <a:srgbClr val="EE0447">
                  <a:alpha val="41000"/>
                </a:srgbClr>
              </a:gs>
              <a:gs pos="50000">
                <a:srgbClr val="E34A6E">
                  <a:alpha val="40000"/>
                </a:srgbClr>
              </a:gs>
              <a:gs pos="93000">
                <a:srgbClr val="232322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EE04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84675" y="2061210"/>
            <a:ext cx="3399155" cy="82588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rot="10800000">
            <a:off x="8328660" y="-2335530"/>
            <a:ext cx="3399155" cy="8258810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16000">
                <a:srgbClr val="342390">
                  <a:alpha val="50000"/>
                </a:srgbClr>
              </a:gs>
              <a:gs pos="41000">
                <a:srgbClr val="342390">
                  <a:alpha val="40000"/>
                </a:srgbClr>
              </a:gs>
              <a:gs pos="90000">
                <a:srgbClr val="232322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3423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 rot="10800000">
            <a:off x="8328660" y="-2335530"/>
            <a:ext cx="3399155" cy="82588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768840" y="1196975"/>
            <a:ext cx="4304030" cy="4304030"/>
          </a:xfrm>
          <a:prstGeom prst="ellipse">
            <a:avLst/>
          </a:prstGeom>
          <a:solidFill>
            <a:srgbClr val="FFFFFF">
              <a:alpha val="5098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9768840" y="1196975"/>
            <a:ext cx="4304030" cy="43040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51875" y="1197610"/>
            <a:ext cx="2700655" cy="137160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应用前景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52191" y="2277109"/>
            <a:ext cx="2845437" cy="862409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适用于家庭园艺、温室种植等多种场景，为盆栽养护提供智能化解决方案，具有广阔的应用前景。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733925" y="2939415"/>
            <a:ext cx="2700655" cy="137160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系统优势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91697" y="4018916"/>
            <a:ext cx="2845437" cy="1149945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本系统实现了盆栽养护的自动化与智能化，显著提升了养护效率与植物存活率，具有功耗低、稳定性高、操作便捷等特点。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 rot="10800000">
            <a:off x="1851660" y="4380865"/>
            <a:ext cx="386080" cy="772160"/>
          </a:xfrm>
          <a:custGeom>
            <a:avLst/>
            <a:gdLst/>
            <a:ahLst/>
            <a:cxnLst/>
            <a:rect l="l" t="t" r="r" b="b"/>
            <a:pathLst>
              <a:path w="386080" h="772160">
                <a:moveTo>
                  <a:pt x="0" y="671399"/>
                </a:moveTo>
                <a:lnTo>
                  <a:pt x="0" y="0"/>
                </a:lnTo>
                <a:lnTo>
                  <a:pt x="386080" y="772160"/>
                </a:lnTo>
                <a:lnTo>
                  <a:pt x="0" y="671399"/>
                </a:lnTo>
                <a:close/>
              </a:path>
            </a:pathLst>
          </a:custGeom>
          <a:gradFill flip="none" rotWithShape="1">
            <a:gsLst>
              <a:gs pos="7000">
                <a:srgbClr val="3C29A8"/>
              </a:gs>
              <a:gs pos="100000">
                <a:srgbClr val="A195E5">
                  <a:alpha val="0"/>
                </a:srgbClr>
              </a:gs>
            </a:gsLst>
            <a:lin ang="17700000" scaled="1"/>
          </a:gradFill>
          <a:ln w="6350">
            <a:gradFill flip="none" rotWithShape="1">
              <a:gsLst>
                <a:gs pos="0">
                  <a:srgbClr val="FFFFFF"/>
                </a:gs>
                <a:gs pos="43000">
                  <a:srgbClr val="FFFFFF">
                    <a:alpha val="0"/>
                  </a:srgbClr>
                </a:gs>
              </a:gsLst>
              <a:lin ang="19680000" scaled="1"/>
            </a:gradFill>
            <a:prstDash val="solid"/>
          </a:ln>
        </p:spPr>
      </p:sp>
      <p:sp>
        <p:nvSpPr>
          <p:cNvPr id="16" name="Text 13"/>
          <p:cNvSpPr/>
          <p:nvPr/>
        </p:nvSpPr>
        <p:spPr>
          <a:xfrm rot="10800000">
            <a:off x="1851660" y="4380865"/>
            <a:ext cx="386080" cy="772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 rot="10800000" flipH="1">
            <a:off x="2235835" y="4380865"/>
            <a:ext cx="386080" cy="772160"/>
          </a:xfrm>
          <a:custGeom>
            <a:avLst/>
            <a:gdLst/>
            <a:ahLst/>
            <a:cxnLst/>
            <a:rect l="l" t="t" r="r" b="b"/>
            <a:pathLst>
              <a:path w="386080" h="772160">
                <a:moveTo>
                  <a:pt x="0" y="671399"/>
                </a:moveTo>
                <a:lnTo>
                  <a:pt x="0" y="0"/>
                </a:lnTo>
                <a:lnTo>
                  <a:pt x="386080" y="772160"/>
                </a:lnTo>
                <a:lnTo>
                  <a:pt x="0" y="671399"/>
                </a:lnTo>
                <a:close/>
              </a:path>
            </a:pathLst>
          </a:custGeom>
          <a:gradFill flip="none" rotWithShape="1">
            <a:gsLst>
              <a:gs pos="7000">
                <a:srgbClr val="342390"/>
              </a:gs>
              <a:gs pos="100000">
                <a:srgbClr val="A195E5">
                  <a:alpha val="0"/>
                </a:srgbClr>
              </a:gs>
            </a:gsLst>
            <a:lin ang="19200000" scaled="1"/>
          </a:gradFill>
          <a:ln w="6350">
            <a:gradFill flip="none" rotWithShape="1">
              <a:gsLst>
                <a:gs pos="0">
                  <a:srgbClr val="FFFFFF"/>
                </a:gs>
                <a:gs pos="54000">
                  <a:srgbClr val="FFFFFF">
                    <a:alpha val="0"/>
                  </a:srgbClr>
                </a:gs>
              </a:gsLst>
              <a:lin ang="18120000" scaled="1"/>
            </a:gradFill>
            <a:prstDash val="solid"/>
          </a:ln>
        </p:spPr>
      </p:sp>
      <p:sp>
        <p:nvSpPr>
          <p:cNvPr id="18" name="Text 15"/>
          <p:cNvSpPr/>
          <p:nvPr/>
        </p:nvSpPr>
        <p:spPr>
          <a:xfrm rot="10800000">
            <a:off x="2235835" y="4380865"/>
            <a:ext cx="386080" cy="77216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851660" y="4280535"/>
            <a:ext cx="770255" cy="201295"/>
          </a:xfrm>
          <a:prstGeom prst="flowChartDecision">
            <a:avLst/>
          </a:prstGeom>
          <a:gradFill flip="none" rotWithShape="1">
            <a:gsLst>
              <a:gs pos="9000">
                <a:srgbClr val="312189"/>
              </a:gs>
              <a:gs pos="100000">
                <a:srgbClr val="725FD8"/>
              </a:gs>
            </a:gsLst>
            <a:lin ang="16200000" scaled="1"/>
          </a:gradFill>
        </p:spPr>
      </p:sp>
      <p:sp>
        <p:nvSpPr>
          <p:cNvPr id="20" name="Text 17"/>
          <p:cNvSpPr/>
          <p:nvPr/>
        </p:nvSpPr>
        <p:spPr>
          <a:xfrm>
            <a:off x="1851660" y="4280535"/>
            <a:ext cx="770255" cy="2012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 rot="10800000">
            <a:off x="873125" y="3141345"/>
            <a:ext cx="1367790" cy="2740025"/>
          </a:xfrm>
          <a:custGeom>
            <a:avLst/>
            <a:gdLst/>
            <a:ahLst/>
            <a:cxnLst/>
            <a:rect l="l" t="t" r="r" b="b"/>
            <a:pathLst>
              <a:path w="1367790" h="2740025">
                <a:moveTo>
                  <a:pt x="0" y="2382471"/>
                </a:moveTo>
                <a:lnTo>
                  <a:pt x="0" y="0"/>
                </a:lnTo>
                <a:lnTo>
                  <a:pt x="1367790" y="2740025"/>
                </a:lnTo>
                <a:lnTo>
                  <a:pt x="0" y="2382471"/>
                </a:lnTo>
                <a:close/>
              </a:path>
            </a:pathLst>
          </a:custGeom>
          <a:gradFill flip="none" rotWithShape="1">
            <a:gsLst>
              <a:gs pos="7000">
                <a:srgbClr val="3C29A8"/>
              </a:gs>
              <a:gs pos="100000">
                <a:srgbClr val="A195E5">
                  <a:alpha val="0"/>
                </a:srgbClr>
              </a:gs>
            </a:gsLst>
            <a:lin ang="17700000" scaled="1"/>
          </a:gradFill>
          <a:ln w="15875">
            <a:gradFill flip="none" rotWithShape="1">
              <a:gsLst>
                <a:gs pos="0">
                  <a:srgbClr val="FFFFFF"/>
                </a:gs>
                <a:gs pos="43000">
                  <a:srgbClr val="FFFFFF">
                    <a:alpha val="0"/>
                  </a:srgbClr>
                </a:gs>
              </a:gsLst>
              <a:lin ang="19680000" scaled="1"/>
            </a:gradFill>
            <a:prstDash val="solid"/>
          </a:ln>
        </p:spPr>
      </p:sp>
      <p:sp>
        <p:nvSpPr>
          <p:cNvPr id="22" name="Text 19"/>
          <p:cNvSpPr/>
          <p:nvPr/>
        </p:nvSpPr>
        <p:spPr>
          <a:xfrm rot="10800000">
            <a:off x="873125" y="3141345"/>
            <a:ext cx="1367790" cy="27400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 rot="10800000" flipH="1">
            <a:off x="2235835" y="3141345"/>
            <a:ext cx="1367790" cy="2740025"/>
          </a:xfrm>
          <a:custGeom>
            <a:avLst/>
            <a:gdLst/>
            <a:ahLst/>
            <a:cxnLst/>
            <a:rect l="l" t="t" r="r" b="b"/>
            <a:pathLst>
              <a:path w="1367790" h="2740025">
                <a:moveTo>
                  <a:pt x="0" y="2382471"/>
                </a:moveTo>
                <a:lnTo>
                  <a:pt x="0" y="0"/>
                </a:lnTo>
                <a:lnTo>
                  <a:pt x="1367790" y="2740025"/>
                </a:lnTo>
                <a:lnTo>
                  <a:pt x="0" y="2382471"/>
                </a:lnTo>
                <a:close/>
              </a:path>
            </a:pathLst>
          </a:custGeom>
          <a:gradFill flip="none" rotWithShape="1">
            <a:gsLst>
              <a:gs pos="7000">
                <a:srgbClr val="342390"/>
              </a:gs>
              <a:gs pos="100000">
                <a:srgbClr val="A195E5">
                  <a:alpha val="0"/>
                </a:srgbClr>
              </a:gs>
            </a:gsLst>
            <a:lin ang="19200000" scaled="1"/>
          </a:gradFill>
          <a:ln w="15875">
            <a:gradFill flip="none" rotWithShape="1">
              <a:gsLst>
                <a:gs pos="0">
                  <a:srgbClr val="FFFFFF"/>
                </a:gs>
                <a:gs pos="54000">
                  <a:srgbClr val="FFFFFF">
                    <a:alpha val="0"/>
                  </a:srgbClr>
                </a:gs>
              </a:gsLst>
              <a:lin ang="18120000" scaled="1"/>
            </a:gradFill>
            <a:prstDash val="solid"/>
          </a:ln>
        </p:spPr>
      </p:sp>
      <p:sp>
        <p:nvSpPr>
          <p:cNvPr id="24" name="Text 21"/>
          <p:cNvSpPr/>
          <p:nvPr/>
        </p:nvSpPr>
        <p:spPr>
          <a:xfrm rot="10800000">
            <a:off x="2235835" y="3141345"/>
            <a:ext cx="1367790" cy="27400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626235" y="5902325"/>
            <a:ext cx="1226820" cy="219710"/>
          </a:xfrm>
          <a:prstGeom prst="ellipse">
            <a:avLst/>
          </a:prstGeom>
          <a:solidFill>
            <a:srgbClr val="725FD8">
              <a:alpha val="20000"/>
            </a:srgbClr>
          </a:solidFill>
        </p:spPr>
      </p:sp>
      <p:sp>
        <p:nvSpPr>
          <p:cNvPr id="26" name="Text 23"/>
          <p:cNvSpPr/>
          <p:nvPr/>
        </p:nvSpPr>
        <p:spPr>
          <a:xfrm>
            <a:off x="1626235" y="5902325"/>
            <a:ext cx="1226820" cy="2197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73125" y="2785110"/>
            <a:ext cx="2730500" cy="713740"/>
          </a:xfrm>
          <a:prstGeom prst="flowChartDecision">
            <a:avLst/>
          </a:prstGeom>
          <a:gradFill flip="none" rotWithShape="1">
            <a:gsLst>
              <a:gs pos="9000">
                <a:srgbClr val="312189"/>
              </a:gs>
              <a:gs pos="100000">
                <a:srgbClr val="725FD8"/>
              </a:gs>
            </a:gsLst>
            <a:lin ang="16200000" scaled="1"/>
          </a:gradFill>
        </p:spPr>
      </p:sp>
      <p:sp>
        <p:nvSpPr>
          <p:cNvPr id="28" name="Text 25"/>
          <p:cNvSpPr/>
          <p:nvPr/>
        </p:nvSpPr>
        <p:spPr>
          <a:xfrm>
            <a:off x="873125" y="2785110"/>
            <a:ext cx="2730500" cy="7137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 rot="720000">
            <a:off x="502285" y="3789680"/>
            <a:ext cx="3438525" cy="1009650"/>
          </a:xfrm>
          <a:prstGeom prst="ellipse">
            <a:avLst/>
          </a:prstGeom>
          <a:solidFill>
            <a:srgbClr val="000000">
              <a:alpha val="0"/>
            </a:srgbClr>
          </a:solidFill>
          <a:ln w="9525">
            <a:gradFill flip="none" rotWithShape="1">
              <a:gsLst>
                <a:gs pos="0">
                  <a:srgbClr val="725FD8"/>
                </a:gs>
                <a:gs pos="81000">
                  <a:srgbClr val="342390">
                    <a:alpha val="0"/>
                  </a:srgbClr>
                </a:gs>
              </a:gsLst>
              <a:lin ang="16140000" scaled="1"/>
            </a:gradFill>
            <a:prstDash val="solid"/>
          </a:ln>
        </p:spPr>
      </p:sp>
      <p:sp>
        <p:nvSpPr>
          <p:cNvPr id="30" name="Text 27"/>
          <p:cNvSpPr/>
          <p:nvPr/>
        </p:nvSpPr>
        <p:spPr>
          <a:xfrm rot="720000">
            <a:off x="502285" y="3789680"/>
            <a:ext cx="3438525" cy="10096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 rot="20640000" flipV="1">
            <a:off x="542925" y="3788410"/>
            <a:ext cx="3438525" cy="1009650"/>
          </a:xfrm>
          <a:prstGeom prst="ellipse">
            <a:avLst/>
          </a:prstGeom>
          <a:solidFill>
            <a:srgbClr val="000000">
              <a:alpha val="0"/>
            </a:srgbClr>
          </a:solidFill>
          <a:ln w="9525">
            <a:gradFill flip="none" rotWithShape="1">
              <a:gsLst>
                <a:gs pos="19000">
                  <a:srgbClr val="342390">
                    <a:alpha val="0"/>
                  </a:srgbClr>
                </a:gs>
                <a:gs pos="100000">
                  <a:srgbClr val="725FD8"/>
                </a:gs>
              </a:gsLst>
              <a:lin ang="16200000" scaled="1"/>
            </a:gradFill>
            <a:prstDash val="solid"/>
          </a:ln>
        </p:spPr>
      </p:sp>
      <p:sp>
        <p:nvSpPr>
          <p:cNvPr id="32" name="Text 29"/>
          <p:cNvSpPr/>
          <p:nvPr/>
        </p:nvSpPr>
        <p:spPr>
          <a:xfrm rot="20640000">
            <a:off x="542925" y="3788410"/>
            <a:ext cx="3438525" cy="10096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996440" y="5946775"/>
            <a:ext cx="486410" cy="129540"/>
          </a:xfrm>
          <a:prstGeom prst="ellipse">
            <a:avLst/>
          </a:prstGeom>
          <a:solidFill>
            <a:srgbClr val="8979DF">
              <a:alpha val="50196"/>
            </a:srgbClr>
          </a:solidFill>
        </p:spPr>
      </p:sp>
      <p:sp>
        <p:nvSpPr>
          <p:cNvPr id="34" name="Text 31"/>
          <p:cNvSpPr/>
          <p:nvPr/>
        </p:nvSpPr>
        <p:spPr>
          <a:xfrm>
            <a:off x="1996440" y="5946775"/>
            <a:ext cx="486410" cy="1295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97890" y="476250"/>
            <a:ext cx="11386820" cy="682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2F2F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项目成果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13105" y="1908175"/>
            <a:ext cx="10631805" cy="1004570"/>
          </a:xfrm>
          <a:custGeom>
            <a:avLst/>
            <a:gdLst/>
            <a:ahLst/>
            <a:cxnLst/>
            <a:rect l="l" t="t" r="r" b="b"/>
            <a:pathLst>
              <a:path w="10631805" h="1004570">
                <a:moveTo>
                  <a:pt x="0" y="1004570"/>
                </a:moveTo>
                <a:cubicBezTo>
                  <a:pt x="273685" y="877589"/>
                  <a:pt x="850900" y="466171"/>
                  <a:pt x="1570990" y="395697"/>
                </a:cubicBezTo>
                <a:cubicBezTo>
                  <a:pt x="2291080" y="325222"/>
                  <a:pt x="2812415" y="730926"/>
                  <a:pt x="3601085" y="652198"/>
                </a:cubicBezTo>
                <a:cubicBezTo>
                  <a:pt x="4389755" y="573470"/>
                  <a:pt x="4488180" y="-24610"/>
                  <a:pt x="5513705" y="786"/>
                </a:cubicBezTo>
                <a:cubicBezTo>
                  <a:pt x="6539230" y="26182"/>
                  <a:pt x="7706360" y="671245"/>
                  <a:pt x="8729980" y="780449"/>
                </a:cubicBezTo>
                <a:cubicBezTo>
                  <a:pt x="9753600" y="889652"/>
                  <a:pt x="10315575" y="608390"/>
                  <a:pt x="10631805" y="545534"/>
                </a:cubicBezTo>
              </a:path>
            </a:pathLst>
          </a:custGeom>
          <a:solidFill>
            <a:srgbClr val="000000">
              <a:alpha val="0"/>
            </a:srgbClr>
          </a:solidFill>
          <a:ln w="28575">
            <a:solidFill>
              <a:srgbClr val="77022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105" y="1908175"/>
            <a:ext cx="10631805" cy="10045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004695" y="2007235"/>
            <a:ext cx="638175" cy="638175"/>
          </a:xfrm>
          <a:prstGeom prst="ellipse">
            <a:avLst/>
          </a:prstGeom>
          <a:gradFill flip="none" rotWithShape="1">
            <a:gsLst>
              <a:gs pos="10000">
                <a:srgbClr val="EE92A7"/>
              </a:gs>
              <a:gs pos="56000">
                <a:srgbClr val="C31E45"/>
              </a:gs>
              <a:gs pos="100000">
                <a:srgbClr val="000000"/>
              </a:gs>
            </a:gsLst>
            <a:lin ang="2700000" scaled="1"/>
          </a:gradFill>
          <a:effectLst>
            <a:outerShdw blurRad="290837" dist="50607" dir="2700000" algn="bl" rotWithShape="0">
              <a:srgbClr val="EE0447">
                <a:alpha val="6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004695" y="2007235"/>
            <a:ext cx="638175" cy="638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91360" y="2143125"/>
            <a:ext cx="664845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72785" y="1570990"/>
            <a:ext cx="637540" cy="638175"/>
          </a:xfrm>
          <a:prstGeom prst="ellipse">
            <a:avLst/>
          </a:prstGeom>
          <a:gradFill flip="none" rotWithShape="1">
            <a:gsLst>
              <a:gs pos="10000">
                <a:srgbClr val="725FD8"/>
              </a:gs>
              <a:gs pos="56000">
                <a:srgbClr val="271A6C"/>
              </a:gs>
              <a:gs pos="100000">
                <a:srgbClr val="000000"/>
              </a:gs>
            </a:gsLst>
            <a:lin ang="2700000" scaled="1"/>
          </a:gradFill>
          <a:effectLst>
            <a:outerShdw blurRad="290837" dist="50607" dir="2700000" algn="bl" rotWithShape="0">
              <a:srgbClr val="342390">
                <a:alpha val="6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72785" y="1570990"/>
            <a:ext cx="637540" cy="638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46115" y="1737360"/>
            <a:ext cx="664845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540240" y="2394585"/>
            <a:ext cx="637540" cy="638175"/>
          </a:xfrm>
          <a:prstGeom prst="ellipse">
            <a:avLst/>
          </a:prstGeom>
          <a:gradFill flip="none" rotWithShape="1">
            <a:gsLst>
              <a:gs pos="10000">
                <a:srgbClr val="EE92A7"/>
              </a:gs>
              <a:gs pos="56000">
                <a:srgbClr val="C31E45"/>
              </a:gs>
              <a:gs pos="100000">
                <a:srgbClr val="000000"/>
              </a:gs>
            </a:gsLst>
            <a:lin ang="2700000" scaled="1"/>
          </a:gradFill>
          <a:effectLst>
            <a:outerShdw blurRad="290837" dist="50607" dir="2700000" algn="bl" rotWithShape="0">
              <a:srgbClr val="EE0447">
                <a:alpha val="6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540240" y="2394585"/>
            <a:ext cx="637540" cy="638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526270" y="2560955"/>
            <a:ext cx="664845" cy="2762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9130" y="3448685"/>
            <a:ext cx="3490595" cy="7004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数据融合精度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68971" y="3830955"/>
            <a:ext cx="3470913" cy="862409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系统在多传感器数据融合精度方面仍有提升空间，可进一步优化算法，提高数据准确性。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408805" y="2708910"/>
            <a:ext cx="3490595" cy="7004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设备功耗优化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452303" y="3091814"/>
            <a:ext cx="3403600" cy="862409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随着功能增加，设备功耗有所上升，未来可探索低功耗通信技术与节能设计，延长设备续航。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157687" y="3430270"/>
            <a:ext cx="3490595" cy="7004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复杂环境适应性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201184" y="3813176"/>
            <a:ext cx="3403600" cy="862409"/>
          </a:xfrm>
          <a:prstGeom prst="rect">
            <a:avLst/>
          </a:prstGeom>
          <a:noFill/>
        </p:spPr>
        <p:txBody>
          <a:bodyPr wrap="square" lIns="45720" tIns="45720" rIns="4572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在复杂环境下，如强电磁干扰、高湿度等，系统稳定性和可靠性有待进一步验证与提升。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68630" y="476250"/>
            <a:ext cx="11386820" cy="682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2F2F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项目不足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37540" y="1656080"/>
            <a:ext cx="11016615" cy="1618615"/>
          </a:xfrm>
          <a:prstGeom prst="roundRect">
            <a:avLst>
              <a:gd name="adj" fmla="val 2679"/>
            </a:avLst>
          </a:prstGeom>
          <a:gradFill flip="none" rotWithShape="1">
            <a:gsLst>
              <a:gs pos="4000">
                <a:srgbClr val="EE0447">
                  <a:alpha val="41000"/>
                </a:srgbClr>
              </a:gs>
              <a:gs pos="50000">
                <a:srgbClr val="E34A6E">
                  <a:alpha val="40000"/>
                </a:srgbClr>
              </a:gs>
              <a:gs pos="93000">
                <a:srgbClr val="232322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EE04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7540" y="1656080"/>
            <a:ext cx="11016615" cy="16186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1484" y="2371725"/>
            <a:ext cx="10341056" cy="104648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引入深度学习算法优化环境预测模型，提高系统智能化水平；结合物联网技术实现远程集中管理，提升用户体验。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71484" y="1774825"/>
            <a:ext cx="10424875" cy="5969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技术优化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48425" y="3640455"/>
            <a:ext cx="5205730" cy="2305050"/>
          </a:xfrm>
          <a:prstGeom prst="roundRect">
            <a:avLst>
              <a:gd name="adj" fmla="val 2679"/>
            </a:avLst>
          </a:prstGeom>
          <a:gradFill flip="none" rotWithShape="1">
            <a:gsLst>
              <a:gs pos="16000">
                <a:srgbClr val="342390">
                  <a:alpha val="50000"/>
                </a:srgbClr>
              </a:gs>
              <a:gs pos="41000">
                <a:srgbClr val="342390">
                  <a:alpha val="40000"/>
                </a:srgbClr>
              </a:gs>
              <a:gs pos="90000">
                <a:srgbClr val="232322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3423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8425" y="3640455"/>
            <a:ext cx="5205730" cy="23050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04748" y="3754755"/>
            <a:ext cx="4044891" cy="546100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市场推广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04748" y="4267200"/>
            <a:ext cx="4511458" cy="180848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加强市场推广，与园艺爱好者、温室种植企业等合作，推动系统广泛应用，促进智慧农业发展。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37540" y="3640455"/>
            <a:ext cx="5205730" cy="2305050"/>
          </a:xfrm>
          <a:prstGeom prst="roundRect">
            <a:avLst>
              <a:gd name="adj" fmla="val 2679"/>
            </a:avLst>
          </a:prstGeom>
          <a:gradFill flip="none" rotWithShape="1">
            <a:gsLst>
              <a:gs pos="16000">
                <a:srgbClr val="342390">
                  <a:alpha val="50000"/>
                </a:srgbClr>
              </a:gs>
              <a:gs pos="41000">
                <a:srgbClr val="342390">
                  <a:alpha val="40000"/>
                </a:srgbClr>
              </a:gs>
              <a:gs pos="90000">
                <a:srgbClr val="232322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6350">
            <a:solidFill>
              <a:srgbClr val="3423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7540" y="3640455"/>
            <a:ext cx="5205730" cy="23050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93863" y="3754755"/>
            <a:ext cx="4044891" cy="546100"/>
          </a:xfrm>
          <a:prstGeom prst="rect">
            <a:avLst/>
          </a:prstGeom>
          <a:noFill/>
        </p:spPr>
        <p:txBody>
          <a:bodyPr wrap="square" lIns="45720" tIns="45720" rIns="45720" bIns="45720" rtlCol="0" anchor="ctr"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功能拓展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93863" y="4267200"/>
            <a:ext cx="4511458" cy="1808480"/>
          </a:xfrm>
          <a:prstGeom prst="rect">
            <a:avLst/>
          </a:prstGeom>
          <a:noFill/>
        </p:spPr>
        <p:txBody>
          <a:bodyPr wrap="square" lIns="45720" tIns="45720" rIns="45720" bIns="45720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拓展系统功能，如增加病虫害监测、植物生长记录等功能，为用户提供更全面的养护服务。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90550" y="476250"/>
            <a:ext cx="11386820" cy="682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dirty="0">
                <a:solidFill>
                  <a:srgbClr val="F2F2F2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未来展望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E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47:19-d0shods75iks832je3e0.png"/>
          <p:cNvPicPr>
            <a:picLocks noChangeAspect="1"/>
          </p:cNvPicPr>
          <p:nvPr/>
        </p:nvPicPr>
        <p:blipFill>
          <a:blip r:embed="rId1"/>
          <a:srcRect l="5853" r="5311" b="39714"/>
          <a:stretch>
            <a:fillRect/>
          </a:stretch>
        </p:blipFill>
        <p:spPr>
          <a:xfrm>
            <a:off x="3175" y="2708275"/>
            <a:ext cx="12184380" cy="41465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80000">
                <a:srgbClr val="00001E"/>
              </a:gs>
              <a:gs pos="100000">
                <a:srgbClr val="000319">
                  <a:alpha val="0"/>
                </a:srgbClr>
              </a:gs>
            </a:gsLst>
            <a:lin ang="5400000" scaled="1"/>
          </a:gradFill>
        </p:spPr>
      </p:sp>
      <p:sp>
        <p:nvSpPr>
          <p:cNvPr id="4" name="Text 1"/>
          <p:cNvSpPr/>
          <p:nvPr/>
        </p:nvSpPr>
        <p:spPr>
          <a:xfrm>
            <a:off x="6350" y="6350"/>
            <a:ext cx="12179300" cy="4432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47:55-d0shoms75iks832je3m0.png"/>
          <p:cNvPicPr>
            <a:picLocks noChangeAspect="1"/>
          </p:cNvPicPr>
          <p:nvPr/>
        </p:nvPicPr>
        <p:blipFill>
          <a:blip r:embed="rId2"/>
          <a:srcRect l="9575" t="9913" r="3636" b="15542"/>
          <a:stretch>
            <a:fillRect/>
          </a:stretch>
        </p:blipFill>
        <p:spPr>
          <a:xfrm>
            <a:off x="-1905" y="-6985"/>
            <a:ext cx="12205335" cy="68948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8453" y="2387918"/>
            <a:ext cx="6475095" cy="12342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感谢观看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61840" y="4410710"/>
            <a:ext cx="1902460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汇报人：</a:t>
            </a:r>
            <a:r>
              <a:rPr lang="zh-CN" alt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陈前</a:t>
            </a:r>
            <a:r>
              <a:rPr lang="en-US" altLang="zh-CN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   </a:t>
            </a:r>
            <a:r>
              <a:rPr lang="zh-CN" alt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卢治宇</a:t>
            </a:r>
            <a:r>
              <a:rPr lang="en-US" altLang="zh-CN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 </a:t>
            </a:r>
            <a:endParaRPr lang="en-US" altLang="zh-CN" sz="1400" dirty="0">
              <a:solidFill>
                <a:srgbClr val="FFFFFF"/>
              </a:solidFill>
              <a:latin typeface="MiSans" panose="00000500000000000000" pitchFamily="34" charset="-122"/>
              <a:ea typeface="MiSans" panose="00000500000000000000" pitchFamily="34" charset="-122"/>
              <a:cs typeface="MiSans" panose="00000500000000000000" pitchFamily="34" charset="-122"/>
              <a:sym typeface="MiSans" panose="00000500000000000000" pitchFamily="34" charset="-122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晏于吉</a:t>
            </a:r>
            <a:r>
              <a:rPr lang="en-US" altLang="zh-CN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   </a:t>
            </a:r>
            <a:r>
              <a:rPr lang="zh-CN" alt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王博</a:t>
            </a:r>
            <a:r>
              <a:rPr lang="en-US" altLang="zh-CN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   </a:t>
            </a:r>
            <a:r>
              <a:rPr lang="zh-CN" alt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明新愉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656705" y="4410710"/>
            <a:ext cx="307594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anose="00000500000000000000" pitchFamily="34" charset="-122"/>
                <a:ea typeface="MiSans" panose="00000500000000000000" pitchFamily="34" charset="-122"/>
                <a:cs typeface="MiSans" panose="00000500000000000000" pitchFamily="34" charset="-122"/>
                <a:sym typeface="MiSans" panose="00000500000000000000" pitchFamily="34" charset="-122"/>
              </a:rPr>
              <a:t>汇报日期：2025.06.23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320155" y="441071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0" y="133350"/>
                </a:moveTo>
                <a:cubicBezTo>
                  <a:pt x="0" y="59699"/>
                  <a:pt x="59699" y="0"/>
                  <a:pt x="133350" y="0"/>
                </a:cubicBezTo>
                <a:cubicBezTo>
                  <a:pt x="177800" y="0"/>
                  <a:pt x="222250" y="0"/>
                  <a:pt x="266700" y="0"/>
                </a:cubicBezTo>
                <a:cubicBezTo>
                  <a:pt x="266700" y="44450"/>
                  <a:pt x="266700" y="88900"/>
                  <a:pt x="266700" y="133350"/>
                </a:cubicBezTo>
                <a:cubicBezTo>
                  <a:pt x="266700" y="207001"/>
                  <a:pt x="207001" y="266700"/>
                  <a:pt x="133350" y="266700"/>
                </a:cubicBezTo>
                <a:cubicBezTo>
                  <a:pt x="59699" y="266700"/>
                  <a:pt x="0" y="207001"/>
                  <a:pt x="0" y="13335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38000">
                <a:srgbClr val="EA7893"/>
              </a:gs>
              <a:gs pos="100000">
                <a:srgbClr val="E34A6E"/>
              </a:gs>
            </a:gsLst>
            <a:lin ang="5400000" scaled="1"/>
          </a:gradFill>
        </p:spPr>
      </p:sp>
      <p:sp>
        <p:nvSpPr>
          <p:cNvPr id="10" name="Text 6"/>
          <p:cNvSpPr/>
          <p:nvPr/>
        </p:nvSpPr>
        <p:spPr>
          <a:xfrm>
            <a:off x="6320155" y="4410710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166870" y="441071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0" y="133350"/>
                </a:moveTo>
                <a:cubicBezTo>
                  <a:pt x="0" y="59699"/>
                  <a:pt x="59699" y="0"/>
                  <a:pt x="133350" y="0"/>
                </a:cubicBezTo>
                <a:cubicBezTo>
                  <a:pt x="177800" y="0"/>
                  <a:pt x="222250" y="0"/>
                  <a:pt x="266700" y="0"/>
                </a:cubicBezTo>
                <a:cubicBezTo>
                  <a:pt x="266700" y="44450"/>
                  <a:pt x="266700" y="88900"/>
                  <a:pt x="266700" y="133350"/>
                </a:cubicBezTo>
                <a:cubicBezTo>
                  <a:pt x="266700" y="207001"/>
                  <a:pt x="207001" y="266700"/>
                  <a:pt x="133350" y="266700"/>
                </a:cubicBezTo>
                <a:cubicBezTo>
                  <a:pt x="59699" y="266700"/>
                  <a:pt x="0" y="207001"/>
                  <a:pt x="0" y="133350"/>
                </a:cubicBez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38000">
                <a:srgbClr val="EA7893"/>
              </a:gs>
              <a:gs pos="100000">
                <a:srgbClr val="E34A6E"/>
              </a:gs>
            </a:gsLst>
            <a:lin ang="5400000" scaled="1"/>
          </a:gradFill>
        </p:spPr>
      </p:sp>
      <p:sp>
        <p:nvSpPr>
          <p:cNvPr id="12" name="Text 8"/>
          <p:cNvSpPr/>
          <p:nvPr/>
        </p:nvSpPr>
        <p:spPr>
          <a:xfrm>
            <a:off x="4166870" y="4410710"/>
            <a:ext cx="266700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27355" y="297180"/>
            <a:ext cx="191516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3.15,&quot;left&quot;:50.2,&quot;top&quot;:125.25,&quot;width&quot;:867.45}"/>
</p:tagLst>
</file>

<file path=ppt/tags/tag2.xml><?xml version="1.0" encoding="utf-8"?>
<p:tagLst xmlns:p="http://schemas.openxmlformats.org/presentationml/2006/main">
  <p:tag name="KSO_WM_DIAGRAM_VIRTUALLY_FRAME" val="{&quot;height&quot;:353.15,&quot;left&quot;:50.2,&quot;top&quot;:125.25,&quot;width&quot;:867.45}"/>
</p:tagLst>
</file>

<file path=ppt/tags/tag3.xml><?xml version="1.0" encoding="utf-8"?>
<p:tagLst xmlns:p="http://schemas.openxmlformats.org/presentationml/2006/main">
  <p:tag name="KSO_WM_DIAGRAM_VIRTUALLY_FRAME" val="{&quot;height&quot;:353.15,&quot;left&quot;:50.2,&quot;top&quot;:125.25,&quot;width&quot;:867.45}"/>
</p:tagLst>
</file>

<file path=ppt/tags/tag4.xml><?xml version="1.0" encoding="utf-8"?>
<p:tagLst xmlns:p="http://schemas.openxmlformats.org/presentationml/2006/main">
  <p:tag name="KSO_WM_DIAGRAM_VIRTUALLY_FRAME" val="{&quot;height&quot;:353.15,&quot;left&quot;:50.2,&quot;top&quot;:125.25,&quot;width&quot;:867.45}"/>
</p:tagLst>
</file>

<file path=ppt/tags/tag5.xml><?xml version="1.0" encoding="utf-8"?>
<p:tagLst xmlns:p="http://schemas.openxmlformats.org/presentationml/2006/main">
  <p:tag name="KSO_WM_DIAGRAM_VIRTUALLY_FRAME" val="{&quot;height&quot;:353.15,&quot;left&quot;:50.2,&quot;top&quot;:125.25,&quot;width&quot;:867.45}"/>
</p:tagLst>
</file>

<file path=ppt/tags/tag6.xml><?xml version="1.0" encoding="utf-8"?>
<p:tagLst xmlns:p="http://schemas.openxmlformats.org/presentationml/2006/main">
  <p:tag name="KSO_WM_DIAGRAM_VIRTUALLY_FRAME" val="{&quot;height&quot;:353.15,&quot;left&quot;:50.2,&quot;top&quot;:125.25,&quot;width&quot;:867.45}"/>
</p:tagLst>
</file>

<file path=ppt/tags/tag7.xml><?xml version="1.0" encoding="utf-8"?>
<p:tagLst xmlns:p="http://schemas.openxmlformats.org/presentationml/2006/main">
  <p:tag name="KSO_WM_DIAGRAM_VIRTUALLY_FRAME" val="{&quot;height&quot;:353.15,&quot;left&quot;:50.2,&quot;top&quot;:125.25,&quot;width&quot;:867.45}"/>
</p:tagLst>
</file>

<file path=ppt/tags/tag8.xml><?xml version="1.0" encoding="utf-8"?>
<p:tagLst xmlns:p="http://schemas.openxmlformats.org/presentationml/2006/main">
  <p:tag name="KSO_WM_DIAGRAM_VIRTUALLY_FRAME" val="{&quot;height&quot;:467.95,&quot;left&quot;:454.2,&quot;top&quot;:49.05,&quot;width&quot;:458.05}"/>
</p:tagLst>
</file>

<file path=ppt/tags/tag9.xml><?xml version="1.0" encoding="utf-8"?>
<p:tagLst xmlns:p="http://schemas.openxmlformats.org/presentationml/2006/main">
  <p:tag name="KSO_WM_DIAGRAM_VIRTUALLY_FRAME" val="{&quot;height&quot;:467.95,&quot;left&quot;:454.2,&quot;top&quot;:49.05,&quot;width&quot;:458.05}"/>
</p:tagLst>
</file>

<file path=ppt/tags/tag10.xml><?xml version="1.0" encoding="utf-8"?>
<p:tagLst xmlns:p="http://schemas.openxmlformats.org/presentationml/2006/main">
  <p:tag name="KSO_WM_DIAGRAM_VIRTUALLY_FRAME" val="{&quot;height&quot;:467.95,&quot;left&quot;:454.2,&quot;top&quot;:49.05,&quot;width&quot;:458.05}"/>
</p:tagLst>
</file>

<file path=ppt/tags/tag11.xml><?xml version="1.0" encoding="utf-8"?>
<p:tagLst xmlns:p="http://schemas.openxmlformats.org/presentationml/2006/main">
  <p:tag name="KSO_WM_DIAGRAM_VIRTUALLY_FRAME" val="{&quot;height&quot;:467.95,&quot;left&quot;:454.2,&quot;top&quot;:49.05,&quot;width&quot;:458.05}"/>
</p:tagLst>
</file>

<file path=ppt/tags/tag12.xml><?xml version="1.0" encoding="utf-8"?>
<p:tagLst xmlns:p="http://schemas.openxmlformats.org/presentationml/2006/main">
  <p:tag name="KSO_WM_DIAGRAM_VIRTUALLY_FRAME" val="{&quot;height&quot;:467.95,&quot;left&quot;:454.2,&quot;top&quot;:49.05,&quot;width&quot;:458.05}"/>
</p:tagLst>
</file>

<file path=ppt/tags/tag13.xml><?xml version="1.0" encoding="utf-8"?>
<p:tagLst xmlns:p="http://schemas.openxmlformats.org/presentationml/2006/main">
  <p:tag name="KSO_WM_DIAGRAM_VIRTUALLY_FRAME" val="{&quot;height&quot;:467.95,&quot;left&quot;:454.2,&quot;top&quot;:49.05,&quot;width&quot;:458.05}"/>
</p:tagLst>
</file>

<file path=ppt/tags/tag14.xml><?xml version="1.0" encoding="utf-8"?>
<p:tagLst xmlns:p="http://schemas.openxmlformats.org/presentationml/2006/main">
  <p:tag name="KSO_WM_DIAGRAM_VIRTUALLY_FRAME" val="{&quot;height&quot;:370.1,&quot;left&quot;:60.725,&quot;top&quot;:121.725,&quot;width&quot;:843}"/>
</p:tagLst>
</file>

<file path=ppt/tags/tag15.xml><?xml version="1.0" encoding="utf-8"?>
<p:tagLst xmlns:p="http://schemas.openxmlformats.org/presentationml/2006/main">
  <p:tag name="KSO_WM_DIAGRAM_VIRTUALLY_FRAME" val="{&quot;height&quot;:370.1,&quot;left&quot;:60.725,&quot;top&quot;:121.725,&quot;width&quot;:843}"/>
</p:tagLst>
</file>

<file path=ppt/tags/tag16.xml><?xml version="1.0" encoding="utf-8"?>
<p:tagLst xmlns:p="http://schemas.openxmlformats.org/presentationml/2006/main">
  <p:tag name="KSO_WM_DIAGRAM_VIRTUALLY_FRAME" val="{&quot;height&quot;:370.1,&quot;left&quot;:60.725,&quot;top&quot;:121.725,&quot;width&quot;:843}"/>
</p:tagLst>
</file>

<file path=ppt/tags/tag17.xml><?xml version="1.0" encoding="utf-8"?>
<p:tagLst xmlns:p="http://schemas.openxmlformats.org/presentationml/2006/main">
  <p:tag name="KSO_WM_DIAGRAM_VIRTUALLY_FRAME" val="{&quot;height&quot;:370.1,&quot;left&quot;:60.725,&quot;top&quot;:121.725,&quot;width&quot;:843}"/>
</p:tagLst>
</file>

<file path=ppt/tags/tag18.xml><?xml version="1.0" encoding="utf-8"?>
<p:tagLst xmlns:p="http://schemas.openxmlformats.org/presentationml/2006/main">
  <p:tag name="KSO_WM_DIAGRAM_VIRTUALLY_FRAME" val="{&quot;height&quot;:370.1,&quot;left&quot;:60.725,&quot;top&quot;:121.725,&quot;width&quot;:843}"/>
</p:tagLst>
</file>

<file path=ppt/tags/tag19.xml><?xml version="1.0" encoding="utf-8"?>
<p:tagLst xmlns:p="http://schemas.openxmlformats.org/presentationml/2006/main">
  <p:tag name="KSO_WM_DIAGRAM_VIRTUALLY_FRAME" val="{&quot;height&quot;:370.1,&quot;left&quot;:60.725,&quot;top&quot;:121.725,&quot;width&quot;:843}"/>
</p:tagLst>
</file>

<file path=ppt/tags/tag20.xml><?xml version="1.0" encoding="utf-8"?>
<p:tagLst xmlns:p="http://schemas.openxmlformats.org/presentationml/2006/main">
  <p:tag name="KSO_WM_DIAGRAM_VIRTUALLY_FRAME" val="{&quot;height&quot;:370.1,&quot;left&quot;:60.725,&quot;top&quot;:121.725,&quot;width&quot;:843}"/>
</p:tagLst>
</file>

<file path=ppt/tags/tag21.xml><?xml version="1.0" encoding="utf-8"?>
<p:tagLst xmlns:p="http://schemas.openxmlformats.org/presentationml/2006/main">
  <p:tag name="KSO_WM_DIAGRAM_VIRTUALLY_FRAME" val="{&quot;height&quot;:370.1,&quot;left&quot;:60.725,&quot;top&quot;:121.725,&quot;width&quot;:843}"/>
</p:tagLst>
</file>

<file path=ppt/tags/tag22.xml><?xml version="1.0" encoding="utf-8"?>
<p:tagLst xmlns:p="http://schemas.openxmlformats.org/presentationml/2006/main">
  <p:tag name="KSO_WM_DIAGRAM_VIRTUALLY_FRAME" val="{&quot;height&quot;:370.1,&quot;left&quot;:60.725,&quot;top&quot;:121.725,&quot;width&quot;:843}"/>
</p:tagLst>
</file>

<file path=ppt/tags/tag23.xml><?xml version="1.0" encoding="utf-8"?>
<p:tagLst xmlns:p="http://schemas.openxmlformats.org/presentationml/2006/main">
  <p:tag name="KSO_WM_DIAGRAM_VIRTUALLY_FRAME" val="{&quot;height&quot;:370.1,&quot;left&quot;:60.725,&quot;top&quot;:121.725,&quot;width&quot;:843}"/>
</p:tagLst>
</file>

<file path=ppt/tags/tag24.xml><?xml version="1.0" encoding="utf-8"?>
<p:tagLst xmlns:p="http://schemas.openxmlformats.org/presentationml/2006/main">
  <p:tag name="KSO_WM_DIAGRAM_VIRTUALLY_FRAME" val="{&quot;height&quot;:332.1952755905512,&quot;left&quot;:49.55,&quot;top&quot;:111.10842519685039,&quot;width&quot;:859.2518897637796}"/>
</p:tagLst>
</file>

<file path=ppt/tags/tag25.xml><?xml version="1.0" encoding="utf-8"?>
<p:tagLst xmlns:p="http://schemas.openxmlformats.org/presentationml/2006/main">
  <p:tag name="KSO_WM_DIAGRAM_VIRTUALLY_FRAME" val="{&quot;height&quot;:332.1952755905512,&quot;left&quot;:49.55,&quot;top&quot;:111.10842519685039,&quot;width&quot;:859.2518897637796}"/>
</p:tagLst>
</file>

<file path=ppt/tags/tag26.xml><?xml version="1.0" encoding="utf-8"?>
<p:tagLst xmlns:p="http://schemas.openxmlformats.org/presentationml/2006/main">
  <p:tag name="KSO_WM_DIAGRAM_VIRTUALLY_FRAME" val="{&quot;height&quot;:332.1952755905512,&quot;left&quot;:49.55,&quot;top&quot;:111.10842519685039,&quot;width&quot;:859.2518897637796}"/>
</p:tagLst>
</file>

<file path=ppt/tags/tag27.xml><?xml version="1.0" encoding="utf-8"?>
<p:tagLst xmlns:p="http://schemas.openxmlformats.org/presentationml/2006/main">
  <p:tag name="KSO_WM_DIAGRAM_VIRTUALLY_FRAME" val="{&quot;height&quot;:332.1952755905512,&quot;left&quot;:49.55,&quot;top&quot;:111.10842519685039,&quot;width&quot;:859.2518897637796}"/>
</p:tagLst>
</file>

<file path=ppt/tags/tag28.xml><?xml version="1.0" encoding="utf-8"?>
<p:tagLst xmlns:p="http://schemas.openxmlformats.org/presentationml/2006/main">
  <p:tag name="KSO_WM_DIAGRAM_VIRTUALLY_FRAME" val="{&quot;height&quot;:332.1952755905512,&quot;left&quot;:49.55,&quot;top&quot;:111.10842519685039,&quot;width&quot;:859.2518897637796}"/>
</p:tagLst>
</file>

<file path=ppt/tags/tag29.xml><?xml version="1.0" encoding="utf-8"?>
<p:tagLst xmlns:p="http://schemas.openxmlformats.org/presentationml/2006/main">
  <p:tag name="KSO_WM_DIAGRAM_VIRTUALLY_FRAME" val="{&quot;height&quot;:332.1952755905512,&quot;left&quot;:49.55,&quot;top&quot;:111.10842519685039,&quot;width&quot;:859.2518897637796}"/>
</p:tagLst>
</file>

<file path=ppt/tags/tag30.xml><?xml version="1.0" encoding="utf-8"?>
<p:tagLst xmlns:p="http://schemas.openxmlformats.org/presentationml/2006/main">
  <p:tag name="KSO_WM_DIAGRAM_VIRTUALLY_FRAME" val="{&quot;height&quot;:332.1952755905512,&quot;left&quot;:49.55,&quot;top&quot;:111.10842519685039,&quot;width&quot;:859.2518897637796}"/>
</p:tagLst>
</file>

<file path=ppt/tags/tag31.xml><?xml version="1.0" encoding="utf-8"?>
<p:tagLst xmlns:p="http://schemas.openxmlformats.org/presentationml/2006/main">
  <p:tag name="KSO_WM_DIAGRAM_VIRTUALLY_FRAME" val="{&quot;height&quot;:332.1952755905512,&quot;left&quot;:49.55,&quot;top&quot;:111.10842519685039,&quot;width&quot;:859.2518897637796}"/>
</p:tagLst>
</file>

<file path=ppt/tags/tag32.xml><?xml version="1.0" encoding="utf-8"?>
<p:tagLst xmlns:p="http://schemas.openxmlformats.org/presentationml/2006/main">
  <p:tag name="KSO_WM_DIAGRAM_VIRTUALLY_FRAME" val="{&quot;height&quot;:467.95,&quot;left&quot;:454.2,&quot;top&quot;:49.05,&quot;width&quot;:458.05}"/>
</p:tagLst>
</file>

<file path=ppt/tags/tag33.xml><?xml version="1.0" encoding="utf-8"?>
<p:tagLst xmlns:p="http://schemas.openxmlformats.org/presentationml/2006/main">
  <p:tag name="KSO_WM_DIAGRAM_VIRTUALLY_FRAME" val="{&quot;height&quot;:467.95,&quot;left&quot;:454.2,&quot;top&quot;:49.05,&quot;width&quot;:458.05}"/>
</p:tagLst>
</file>

<file path=ppt/tags/tag34.xml><?xml version="1.0" encoding="utf-8"?>
<p:tagLst xmlns:p="http://schemas.openxmlformats.org/presentationml/2006/main">
  <p:tag name="KSO_WM_DIAGRAM_VIRTUALLY_FRAME" val="{&quot;height&quot;:467.95,&quot;left&quot;:454.2,&quot;top&quot;:49.05,&quot;width&quot;:458.05}"/>
</p:tagLst>
</file>

<file path=ppt/tags/tag35.xml><?xml version="1.0" encoding="utf-8"?>
<p:tagLst xmlns:p="http://schemas.openxmlformats.org/presentationml/2006/main">
  <p:tag name="KSO_WM_DIAGRAM_VIRTUALLY_FRAME" val="{&quot;height&quot;:467.95,&quot;left&quot;:454.2,&quot;top&quot;:49.05,&quot;width&quot;:458.05}"/>
</p:tagLst>
</file>

<file path=ppt/tags/tag36.xml><?xml version="1.0" encoding="utf-8"?>
<p:tagLst xmlns:p="http://schemas.openxmlformats.org/presentationml/2006/main">
  <p:tag name="KSO_WM_DIAGRAM_VIRTUALLY_FRAME" val="{&quot;height&quot;:467.95,&quot;left&quot;:454.2,&quot;top&quot;:49.05,&quot;width&quot;:458.05}"/>
</p:tagLst>
</file>

<file path=ppt/tags/tag37.xml><?xml version="1.0" encoding="utf-8"?>
<p:tagLst xmlns:p="http://schemas.openxmlformats.org/presentationml/2006/main">
  <p:tag name="KSO_WM_DIAGRAM_VIRTUALLY_FRAME" val="{&quot;height&quot;:467.95,&quot;left&quot;:454.2,&quot;top&quot;:49.05,&quot;width&quot;:458.05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EE0447"/>
      </a:accent1>
      <a:accent2>
        <a:srgbClr val="342390"/>
      </a:accent2>
      <a:accent3>
        <a:srgbClr val="E34A6E"/>
      </a:accent3>
      <a:accent4>
        <a:srgbClr val="091642"/>
      </a:accent4>
      <a:accent5>
        <a:srgbClr val="6349A8"/>
      </a:accent5>
      <a:accent6>
        <a:srgbClr val="060E2F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EE0447"/>
      </a:accent1>
      <a:accent2>
        <a:srgbClr val="342390"/>
      </a:accent2>
      <a:accent3>
        <a:srgbClr val="E34A6E"/>
      </a:accent3>
      <a:accent4>
        <a:srgbClr val="091642"/>
      </a:accent4>
      <a:accent5>
        <a:srgbClr val="6349A8"/>
      </a:accent5>
      <a:accent6>
        <a:srgbClr val="060E2F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2769</Words>
  <Application>WPS 演示</Application>
  <PresentationFormat>On-screen Show (16:9)</PresentationFormat>
  <Paragraphs>331</Paragraphs>
  <Slides>27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Arial</vt:lpstr>
      <vt:lpstr>宋体</vt:lpstr>
      <vt:lpstr>Wingdings</vt:lpstr>
      <vt:lpstr>MiSans</vt:lpstr>
      <vt:lpstr>等线</vt:lpstr>
      <vt:lpstr>Calibri</vt:lpstr>
      <vt:lpstr>微软雅黑</vt:lpstr>
      <vt:lpstr>Arial Unicode MS</vt:lpstr>
      <vt:lpstr>MiSans ExtraLight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王博</cp:lastModifiedBy>
  <cp:revision>5</cp:revision>
  <dcterms:created xsi:type="dcterms:W3CDTF">2025-06-22T08:54:00Z</dcterms:created>
  <dcterms:modified xsi:type="dcterms:W3CDTF">2025-06-23T06:06:32Z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2CAE964EDA61472485E6F6A5AE05BA32_12</vt:lpwstr>
  </property>
  <property fmtid="{D5CDD505-2E9C-101B-9397-08002B2CF9AE}" pid="3" name="KSOProductBuildVer">
    <vt:lpwstr>2052-12.1.0.21541</vt:lpwstr>
  </property>
</Properties>
</file>