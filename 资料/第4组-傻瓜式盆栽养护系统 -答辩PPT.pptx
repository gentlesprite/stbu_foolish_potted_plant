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6" r:id="rId3"/>
    <p:sldId id="257" r:id="rId5"/>
    <p:sldId id="258" r:id="rId6"/>
    <p:sldId id="259" r:id="rId7"/>
    <p:sldId id="260" r:id="rId8"/>
    <p:sldId id="280" r:id="rId9"/>
    <p:sldId id="261" r:id="rId10"/>
    <p:sldId id="262" r:id="rId11"/>
    <p:sldId id="281" r:id="rId12"/>
    <p:sldId id="263" r:id="rId13"/>
    <p:sldId id="264" r:id="rId14"/>
    <p:sldId id="265" r:id="rId15"/>
    <p:sldId id="266" r:id="rId16"/>
    <p:sldId id="267" r:id="rId17"/>
    <p:sldId id="282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/>
  <p:notesSz cx="6858000" cy="12192000"/>
  <p:embeddedFontLst>
    <p:embeddedFont>
      <p:font typeface="MiSans" panose="00000500000000000000" pitchFamily="34" charset="-122"/>
      <p:regular r:id="rId35"/>
    </p:embeddedFont>
    <p:embeddedFont>
      <p:font typeface="等线" panose="02010600030101010101" charset="-122"/>
      <p:regular r:id="rId36"/>
    </p:embeddedFont>
    <p:embeddedFont>
      <p:font typeface="Calibri" panose="020F0502020204030204" charset="0"/>
      <p:regular r:id="rId37"/>
      <p:bold r:id="rId38"/>
      <p:italic r:id="rId39"/>
      <p:boldItalic r:id="rId40"/>
    </p:embeddedFont>
    <p:embeddedFont>
      <p:font typeface="MiSans ExtraLight" panose="00000300000000000000" charset="-122"/>
      <p:bold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3" Type="http://schemas.openxmlformats.org/officeDocument/2006/relationships/notesSlide" Target="../notesSlides/notesSlide19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6" Type="http://schemas.openxmlformats.org/officeDocument/2006/relationships/notesSlide" Target="../notesSlides/notesSlide2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6:59-d0sho8s75iks832je3bg.png"/>
          <p:cNvPicPr>
            <a:picLocks noChangeAspect="1"/>
          </p:cNvPicPr>
          <p:nvPr/>
        </p:nvPicPr>
        <p:blipFill>
          <a:blip r:embed="rId2"/>
          <a:srcRect l="19730" r="18950"/>
          <a:stretch>
            <a:fillRect/>
          </a:stretch>
        </p:blipFill>
        <p:spPr>
          <a:xfrm>
            <a:off x="0" y="0"/>
            <a:ext cx="12204000" cy="68941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78660" y="2708275"/>
            <a:ext cx="8232775" cy="12179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傻瓜式盆栽养护系统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374265" y="4438650"/>
            <a:ext cx="3322320" cy="1272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汇报人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：陈前</a:t>
            </a: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卢治宇</a:t>
            </a: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</a:t>
            </a:r>
            <a:endParaRPr lang="en-US" altLang="zh-CN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晏于吉</a:t>
            </a: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 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王博</a:t>
            </a: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明新愉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6656705" y="4438650"/>
            <a:ext cx="3353435" cy="831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专业：电子信息工程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320155" y="448691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0" name="Text 6"/>
          <p:cNvSpPr/>
          <p:nvPr/>
        </p:nvSpPr>
        <p:spPr>
          <a:xfrm>
            <a:off x="6320155" y="448691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013585" y="448691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2" name="Text 8"/>
          <p:cNvSpPr/>
          <p:nvPr/>
        </p:nvSpPr>
        <p:spPr>
          <a:xfrm>
            <a:off x="2075815" y="443865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7355" y="297180"/>
            <a:ext cx="19151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13487" r="31249" b="25364"/>
          <a:stretch>
            <a:fillRect/>
          </a:stretch>
        </p:blipFill>
        <p:spPr>
          <a:xfrm>
            <a:off x="5121307" y="718579"/>
            <a:ext cx="2016023" cy="189262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2280285" y="5711190"/>
            <a:ext cx="3353435" cy="831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+mn-ea"/>
              </a:rPr>
              <a:t>专业：电子信息工程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+mn-ea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47155" y="461391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7"/>
          <p:cNvSpPr/>
          <p:nvPr/>
        </p:nvSpPr>
        <p:spPr>
          <a:xfrm>
            <a:off x="2013585" y="571119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9" name="Shape 7"/>
          <p:cNvSpPr/>
          <p:nvPr/>
        </p:nvSpPr>
        <p:spPr>
          <a:xfrm>
            <a:off x="6320155" y="571119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22" name="文本框 21"/>
          <p:cNvSpPr txBox="1"/>
          <p:nvPr/>
        </p:nvSpPr>
        <p:spPr>
          <a:xfrm>
            <a:off x="6586855" y="5648325"/>
            <a:ext cx="31070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+mn-ea"/>
              </a:rPr>
              <a:t>指导教师：刘文秀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+mn-ea"/>
            </a:endParaRPr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04-d0shoa475iks832je3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4000" cy="6894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8233" y="603226"/>
            <a:ext cx="6630354" cy="736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目录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36295" y="3747135"/>
            <a:ext cx="0" cy="197993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8" name="Text 4"/>
          <p:cNvSpPr/>
          <p:nvPr/>
        </p:nvSpPr>
        <p:spPr>
          <a:xfrm>
            <a:off x="930910" y="3695700"/>
            <a:ext cx="1774190" cy="948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任务要求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027295" y="2102485"/>
            <a:ext cx="0" cy="197993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0" name="Text 6"/>
          <p:cNvSpPr/>
          <p:nvPr/>
        </p:nvSpPr>
        <p:spPr>
          <a:xfrm>
            <a:off x="5121910" y="2051050"/>
            <a:ext cx="1774190" cy="948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硬件设计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931795" y="2924810"/>
            <a:ext cx="0" cy="197993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3026410" y="2873375"/>
            <a:ext cx="1850390" cy="948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系统方案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7649845" y="4923155"/>
            <a:ext cx="0" cy="146050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7740650" y="5767705"/>
            <a:ext cx="1834515" cy="6991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总结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122795" y="1280160"/>
            <a:ext cx="0" cy="197993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6" name="Text 12"/>
          <p:cNvSpPr/>
          <p:nvPr/>
        </p:nvSpPr>
        <p:spPr>
          <a:xfrm>
            <a:off x="7217410" y="1228725"/>
            <a:ext cx="1887855" cy="948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软件开发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flipV="1">
            <a:off x="9656445" y="3844290"/>
            <a:ext cx="0" cy="146050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8" name="Text 14"/>
          <p:cNvSpPr/>
          <p:nvPr/>
        </p:nvSpPr>
        <p:spPr>
          <a:xfrm>
            <a:off x="9747250" y="4688840"/>
            <a:ext cx="1834515" cy="6991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系统调试与结果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任务要求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638175" y="1590675"/>
            <a:ext cx="5205095" cy="2026285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  <p:txBody>
          <a:bodyPr/>
          <a:p>
            <a:r>
              <a:rPr lang="zh-CN" altLang="en-US" sz="1400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硬件设计</a:t>
            </a:r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以</a:t>
            </a:r>
            <a:r>
              <a:rPr lang="en-US" altLang="zh-CN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STM32 </a:t>
            </a:r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为核心，集成多种传感器和执行机构，设计信号调理与驱动电路，确保数据采集准确、控制可靠。配备无线通信模块，实现远程监控功能，满足系统硬件需求。</a:t>
            </a:r>
            <a:endParaRPr lang="zh-CN" altLang="en-US" sz="140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7540" y="1656080"/>
            <a:ext cx="11016615" cy="16186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1484" y="2371725"/>
            <a:ext cx="10341056" cy="1046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6448425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8425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6804748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论文编写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6804748" y="4267200"/>
            <a:ext cx="4511458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撰写论文，详细阐述系统设计、开发与测试过程。分析硬件选型与电路设计，论述软件架构与算法实现，总结测试结果与优化方案，为智能盆栽养护提供理论与实践参考。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7540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666115" y="3731895"/>
            <a:ext cx="4372610" cy="56896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sym typeface="+mn-ea"/>
              </a:rPr>
              <a:t>系统测试</a:t>
            </a:r>
            <a:endParaRPr lang="zh-CN" altLang="en-US" sz="16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666115" y="4267200"/>
            <a:ext cx="4839335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对硬件性能、软件功能及整体稳定性进行全面测试。验证传感器准确性、执行机构响应速度和通信稳定性，确保系统运行可靠，满足实际使用需求。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055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</a:rPr>
              <a:t>任务要求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21" name="Shape 2"/>
          <p:cNvSpPr/>
          <p:nvPr>
            <p:custDataLst>
              <p:tags r:id="rId8"/>
            </p:custDataLst>
          </p:nvPr>
        </p:nvSpPr>
        <p:spPr>
          <a:xfrm>
            <a:off x="6449060" y="1590675"/>
            <a:ext cx="5205095" cy="204978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  <p:txBody>
          <a:bodyPr/>
          <a:p>
            <a:r>
              <a:rPr lang="zh-CN" altLang="en-US" sz="1400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软件开发</a:t>
            </a:r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开发</a:t>
            </a:r>
            <a:r>
              <a:rPr lang="en-US" altLang="zh-CN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STM32 </a:t>
            </a:r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固件，实现传感器数据采集、执行机构控制和无线通信功能。设计灌溉、补光、通风算法，智能调节环境。手机</a:t>
            </a:r>
            <a:r>
              <a:rPr lang="en-US" altLang="zh-CN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APP </a:t>
            </a:r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实现远程监控、参数设置，提升用户体验。</a:t>
            </a:r>
            <a:endParaRPr lang="zh-CN" altLang="en-US" sz="140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系统方案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hape 0"/>
          <p:cNvSpPr/>
          <p:nvPr/>
        </p:nvSpPr>
        <p:spPr>
          <a:xfrm>
            <a:off x="0" y="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1175" y="305435"/>
            <a:ext cx="4674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系统方案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54060" y="1219835"/>
            <a:ext cx="26898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大棚程序流程图</a:t>
            </a:r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38475" y="1869440"/>
            <a:ext cx="4616450" cy="435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263765" y="2058670"/>
            <a:ext cx="4568825" cy="4400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060" y="2708275"/>
            <a:ext cx="2605405" cy="3906520"/>
          </a:xfrm>
          <a:prstGeom prst="rect">
            <a:avLst/>
          </a:prstGeom>
        </p:spPr>
      </p:pic>
      <p:pic>
        <p:nvPicPr>
          <p:cNvPr id="10" name="Image 3" descr="https://test-kimi-img.moonshot.cn/pub/slides/slides_tmpl/image/25-05-30-10:59:23-d0shu2s75iks832jeb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371330" y="1849755"/>
            <a:ext cx="570230" cy="4781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00910" y="1219835"/>
            <a:ext cx="2726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系统硬件架构图</a:t>
            </a:r>
            <a:endParaRPr lang="zh-CN" altLang="en-US" sz="2800">
              <a:solidFill>
                <a:schemeClr val="bg1"/>
              </a:solidFill>
            </a:endParaRPr>
          </a:p>
        </p:txBody>
      </p:sp>
      <p:pic>
        <p:nvPicPr>
          <p:cNvPr id="11" name="Image 3" descr="https://test-kimi-img.moonshot.cn/pub/slides/slides_tmpl/image/25-05-30-10:59:23-d0shu2s75iks832jeb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78505" y="2056765"/>
            <a:ext cx="570230" cy="4781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95" y="2850515"/>
            <a:ext cx="5583555" cy="3856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1" descr="https://test-kimi-img.moonshot.cn/pub/slides/slides_tmpl/image/25-05-30-10:47:47-d0shoks75iks832je3lg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3335"/>
            <a:ext cx="5393055" cy="6858000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3"/>
            </p:custDataLst>
          </p:nvPr>
        </p:nvSpPr>
        <p:spPr>
          <a:xfrm>
            <a:off x="6492875" y="2611755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软件架构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4"/>
            </p:custDataLst>
          </p:nvPr>
        </p:nvSpPr>
        <p:spPr>
          <a:xfrm>
            <a:off x="6492240" y="3093085"/>
            <a:ext cx="5083175" cy="148463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实现数据采集、处理与传输，支持本地显示与手机APP远程监控，完成自动控制与手动调节功能。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5768975" y="4599940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功能模块划分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5768340" y="5081270"/>
            <a:ext cx="5083175" cy="148463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系统分为数据采集模块、控制模块、通信模块、显示模块与执行模块，各模块协同工作。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7"/>
            </p:custDataLst>
          </p:nvPr>
        </p:nvSpPr>
        <p:spPr>
          <a:xfrm>
            <a:off x="5768340" y="622935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硬件架构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8"/>
            </p:custDataLst>
          </p:nvPr>
        </p:nvSpPr>
        <p:spPr>
          <a:xfrm>
            <a:off x="5768340" y="1104265"/>
            <a:ext cx="5083175" cy="148590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以STM32微控制器为核心，集成土壤湿度、光照强度、温湿度等多种传感器，连接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电机</a:t>
            </a: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、LED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灯</a:t>
            </a: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、风扇等执行机构，配备无线通信模块。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97535" y="2781300"/>
            <a:ext cx="4161790" cy="183769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系统架构设计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硬件设计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3680" y="219075"/>
            <a:ext cx="3074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</a:rPr>
              <a:t>硬件设计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0180" y="1627505"/>
            <a:ext cx="126428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最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小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系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电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路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图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10" name="Image 3" descr="https://test-kimi-img.moonshot.cn/pub/slides/slides_tmpl/image/25-05-30-10:59:23-d0shu2s75iks832jeb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280" y="2785110"/>
            <a:ext cx="570230" cy="4781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13985" y="1090930"/>
            <a:ext cx="5631815" cy="4801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91" name="图片 91" descr="整机电路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085" y="1170305"/>
            <a:ext cx="7549515" cy="37077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6200000">
            <a:off x="6962775" y="-4806315"/>
            <a:ext cx="1484630" cy="1397698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42390">
              <a:alpha val="12941"/>
            </a:srgbClr>
          </a:solidFill>
        </p:spPr>
      </p:sp>
      <p:sp>
        <p:nvSpPr>
          <p:cNvPr id="8" name="Text 5"/>
          <p:cNvSpPr/>
          <p:nvPr/>
        </p:nvSpPr>
        <p:spPr>
          <a:xfrm rot="16200000">
            <a:off x="6962775" y="-4806315"/>
            <a:ext cx="1484630" cy="139769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65225" y="1904365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65225" y="1904365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65225" y="2075180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165225" y="2075180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25650" y="148590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微控制器选型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025650" y="1840230"/>
            <a:ext cx="7555230" cy="574873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选用STM32F103ZET6，基于ARM Cortex-M3架构，具备72MHz主频、512KB Flash存储和64KB SRAM，支持丰富外设接口。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6200000">
            <a:off x="7129145" y="-2388870"/>
            <a:ext cx="1484630" cy="125539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E0447">
              <a:alpha val="12941"/>
            </a:srgbClr>
          </a:solidFill>
        </p:spPr>
      </p:sp>
      <p:sp>
        <p:nvSpPr>
          <p:cNvPr id="16" name="Text 13"/>
          <p:cNvSpPr/>
          <p:nvPr/>
        </p:nvSpPr>
        <p:spPr>
          <a:xfrm rot="16200000">
            <a:off x="7129145" y="-2388870"/>
            <a:ext cx="1484630" cy="125539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077720" y="3559810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725FD8"/>
              </a:gs>
              <a:gs pos="56000">
                <a:srgbClr val="271A6C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342390">
                <a:alpha val="6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077720" y="3559810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051050" y="3730943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2051050" y="3730943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855595" y="324993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核心功能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855595" y="3604260"/>
            <a:ext cx="7555230" cy="287338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作为系统大脑，负责接收传感器数据，执行算法分析处理，控制外设动作，协调各模块运行。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7332345" y="139065"/>
            <a:ext cx="1484630" cy="109410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42390">
              <a:alpha val="12941"/>
            </a:srgbClr>
          </a:solidFill>
        </p:spPr>
      </p:sp>
      <p:sp>
        <p:nvSpPr>
          <p:cNvPr id="24" name="Text 21"/>
          <p:cNvSpPr/>
          <p:nvPr/>
        </p:nvSpPr>
        <p:spPr>
          <a:xfrm rot="16200000">
            <a:off x="7332345" y="139065"/>
            <a:ext cx="1484630" cy="10941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072130" y="5339080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072130" y="5339080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058795" y="5510213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3058795" y="5510213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035425" y="495300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性能优势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035425" y="5307330"/>
            <a:ext cx="7555230" cy="287338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高性能、低功耗，满足系统对稳定性和效率的要求，为智能化养护提供强大硬件支持。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978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STM32主控模块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 rot="16200000" flipH="1" flipV="1">
            <a:off x="1323340" y="993775"/>
            <a:ext cx="4700270" cy="5804535"/>
          </a:xfrm>
          <a:custGeom>
            <a:avLst/>
            <a:gdLst/>
            <a:ahLst/>
            <a:cxnLst/>
            <a:rect l="l" t="t" r="r" b="b"/>
            <a:pathLst>
              <a:path w="4700270" h="5804535">
                <a:moveTo>
                  <a:pt x="0" y="1160907"/>
                </a:moveTo>
                <a:lnTo>
                  <a:pt x="4700270" y="0"/>
                </a:lnTo>
                <a:lnTo>
                  <a:pt x="4700270" y="5804535"/>
                </a:lnTo>
                <a:lnTo>
                  <a:pt x="0" y="5804535"/>
                </a:lnTo>
                <a:close/>
              </a:path>
            </a:pathLst>
          </a:cu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E34A6E">
                  <a:alpha val="40000"/>
                </a:srgbClr>
              </a:gs>
              <a:gs pos="100000">
                <a:srgbClr val="EE0447">
                  <a:alpha val="41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16200000">
            <a:off x="1323340" y="993775"/>
            <a:ext cx="4700270" cy="58045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 rot="16200000">
            <a:off x="6224905" y="993775"/>
            <a:ext cx="4700270" cy="5804535"/>
          </a:xfrm>
          <a:custGeom>
            <a:avLst/>
            <a:gdLst/>
            <a:ahLst/>
            <a:cxnLst/>
            <a:rect l="l" t="t" r="r" b="b"/>
            <a:pathLst>
              <a:path w="4700270" h="5804535">
                <a:moveTo>
                  <a:pt x="0" y="1160907"/>
                </a:moveTo>
                <a:lnTo>
                  <a:pt x="4700270" y="0"/>
                </a:lnTo>
                <a:lnTo>
                  <a:pt x="4700270" y="5804535"/>
                </a:lnTo>
                <a:lnTo>
                  <a:pt x="0" y="5804535"/>
                </a:lnTo>
                <a:close/>
              </a:path>
            </a:pathLst>
          </a:cu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342390">
                  <a:alpha val="40000"/>
                </a:srgbClr>
              </a:gs>
              <a:gs pos="100000">
                <a:srgbClr val="342390">
                  <a:alpha val="5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 rot="16200000">
            <a:off x="6224905" y="993775"/>
            <a:ext cx="4700270" cy="58045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016635" y="1786255"/>
            <a:ext cx="5280025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土壤湿度传感器</a:t>
            </a:r>
            <a:endParaRPr lang="en-US" sz="16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1016000" y="4008120"/>
            <a:ext cx="534924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温湿度传感器</a:t>
            </a: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1016635" y="2287270"/>
            <a:ext cx="4156075" cy="1118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采用HW-080，模拟量输出，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防水探头设计，基于电阻式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测量，输出0~3V模拟信号，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可精准监测土壤湿度。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1016635" y="4565650"/>
            <a:ext cx="4124325" cy="1677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使用DHT11，数字信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号输出，测量范围湿度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20~90%RH、温度0~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50℃，精度高，稳定性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好，用于环境温湿度监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测。</a:t>
            </a: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5746750" y="1786255"/>
            <a:ext cx="536448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光照强度传感器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5786120" y="3969385"/>
            <a:ext cx="534987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W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937625" y="2248535"/>
            <a:ext cx="2011045" cy="1118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配备JY30光照传感器，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以1lx分辨率采集环境光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照强度，为光照调控提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供准确数据。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8937625" y="4565015"/>
            <a:ext cx="2505710" cy="319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863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传感器模块</a:t>
            </a:r>
            <a:endParaRPr lang="en-US" sz="16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1685" y="2287270"/>
            <a:ext cx="2072005" cy="142176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0695" y="2287270"/>
            <a:ext cx="1777365" cy="14052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21685" y="4614545"/>
            <a:ext cx="2072005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4495" y="1217930"/>
            <a:ext cx="11444605" cy="4881245"/>
          </a:xfrm>
          <a:custGeom>
            <a:avLst/>
            <a:gdLst/>
            <a:ahLst/>
            <a:cxnLst/>
            <a:rect l="l" t="t" r="r" b="b"/>
            <a:pathLst>
              <a:path w="11444605" h="4881245">
                <a:moveTo>
                  <a:pt x="0" y="742678"/>
                </a:moveTo>
                <a:lnTo>
                  <a:pt x="2813529" y="742678"/>
                </a:lnTo>
                <a:lnTo>
                  <a:pt x="2813529" y="277740"/>
                </a:lnTo>
                <a:lnTo>
                  <a:pt x="6100107" y="277740"/>
                </a:lnTo>
                <a:lnTo>
                  <a:pt x="6100107" y="742678"/>
                </a:lnTo>
                <a:lnTo>
                  <a:pt x="8456461" y="742678"/>
                </a:lnTo>
                <a:lnTo>
                  <a:pt x="8456461" y="0"/>
                </a:lnTo>
                <a:lnTo>
                  <a:pt x="11444605" y="0"/>
                </a:lnTo>
                <a:lnTo>
                  <a:pt x="11444605" y="3515793"/>
                </a:lnTo>
                <a:lnTo>
                  <a:pt x="8824105" y="3515793"/>
                </a:lnTo>
                <a:lnTo>
                  <a:pt x="8824105" y="4881245"/>
                </a:lnTo>
                <a:lnTo>
                  <a:pt x="5928666" y="4881245"/>
                </a:lnTo>
                <a:lnTo>
                  <a:pt x="5928666" y="4416306"/>
                </a:lnTo>
                <a:lnTo>
                  <a:pt x="3286578" y="4416306"/>
                </a:lnTo>
                <a:lnTo>
                  <a:pt x="3286578" y="4881245"/>
                </a:lnTo>
                <a:lnTo>
                  <a:pt x="0" y="4881245"/>
                </a:lnTo>
                <a:lnTo>
                  <a:pt x="0" y="742678"/>
                </a:lnTo>
                <a:close/>
              </a:path>
            </a:pathLst>
          </a:custGeom>
          <a:gradFill flip="none" rotWithShape="1">
            <a:gsLst>
              <a:gs pos="0">
                <a:srgbClr val="FECBD9">
                  <a:alpha val="41000"/>
                </a:srgbClr>
              </a:gs>
              <a:gs pos="30000">
                <a:srgbClr val="232322">
                  <a:alpha val="0"/>
                </a:srgbClr>
              </a:gs>
              <a:gs pos="100000">
                <a:srgbClr val="EE0447">
                  <a:alpha val="52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gradFill flip="none" rotWithShape="1">
              <a:gsLst>
                <a:gs pos="0">
                  <a:srgbClr val="342390"/>
                </a:gs>
                <a:gs pos="99000">
                  <a:srgbClr val="EE0447"/>
                </a:gs>
              </a:gsLst>
              <a:path path="circle">
                <a:fillToRect l="50000" t="50000" r="50000" b="50000"/>
              </a:path>
            </a:gra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04495" y="1217930"/>
            <a:ext cx="11444605" cy="4881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629285" y="2924175"/>
            <a:ext cx="2413000" cy="120967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用于灌溉，根据土壤湿度传感器数据，当土壤湿度低于设定阈值时，自动启动浇水，确保植物水分充足。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629285" y="2207260"/>
            <a:ext cx="2412365" cy="33718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电机</a:t>
            </a:r>
            <a:endParaRPr lang="zh-CN" altLang="en-US" sz="1600" b="1" dirty="0">
              <a:solidFill>
                <a:srgbClr val="E34A6E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3518987" y="2658792"/>
            <a:ext cx="2629394" cy="232791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L</a:t>
            </a:r>
            <a:r>
              <a:rPr lang="zh-CN" alt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电机模块以</a:t>
            </a:r>
            <a:r>
              <a:rPr lang="en-US" altLang="zh-CN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STM32</a:t>
            </a:r>
            <a:r>
              <a:rPr lang="zh-CN" alt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为核心，搭配光照传感器、电机驱动电路和窗帘轨道机构。光照传感器实时监测光强，</a:t>
            </a:r>
            <a:r>
              <a:rPr lang="en-US" altLang="zh-CN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STM32</a:t>
            </a:r>
            <a:r>
              <a:rPr lang="zh-CN" alt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根据光照强度控制电机正反转，实现窗帘自动闭合或拉开。支持手机</a:t>
            </a:r>
            <a:r>
              <a:rPr lang="en-US" altLang="zh-CN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APP</a:t>
            </a:r>
            <a:r>
              <a:rPr lang="zh-CN" alt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远程控制和定时开关功能，满足节能与植物光照需求。</a:t>
            </a:r>
            <a:endParaRPr lang="zh-CN" altLang="en-US" sz="1400" dirty="0">
              <a:solidFill>
                <a:schemeClr val="bg1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 ExtraLight" panose="00000300000000000000" charset="-122"/>
            </a:endParaRPr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3518985" y="1892384"/>
            <a:ext cx="2590663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光照与</a:t>
            </a:r>
            <a:r>
              <a:rPr lang="en-US" altLang="zh-CN" sz="18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LED</a:t>
            </a:r>
            <a:endParaRPr lang="en-US" altLang="zh-CN" sz="1800" b="1" dirty="0">
              <a:solidFill>
                <a:srgbClr val="E34A6E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6507776" y="2898808"/>
            <a:ext cx="2292863" cy="114994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3V直流风扇，当二氧化碳浓度高于设定阈值时启动，进行通风换气，维持良好空气环境。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6507479" y="2195829"/>
            <a:ext cx="2282192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风扇</a:t>
            </a: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8913024" y="2088584"/>
            <a:ext cx="2628760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有源蜂鸣器，当传感器采集数据超过设定阈值时报警提醒，及时通知用户处理异常情况。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8918738" y="1411077"/>
            <a:ext cx="2590662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蜂鸣器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863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执行机构模块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43-d0shojs75iks832je3l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0607675" cy="73939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6200000">
            <a:off x="8825230" y="516255"/>
            <a:ext cx="2173605" cy="950341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 rot="16200000">
            <a:off x="8825230" y="516255"/>
            <a:ext cx="2173605" cy="95034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16200000">
            <a:off x="8825230" y="-1892300"/>
            <a:ext cx="2173605" cy="950341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 rot="16200000">
            <a:off x="8825230" y="-1892300"/>
            <a:ext cx="2173605" cy="95034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01765" y="1988820"/>
            <a:ext cx="4886325" cy="1162685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OLED显示模块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01765" y="2500630"/>
            <a:ext cx="5083175" cy="1415415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采用0.96英寸SSD1306驱动芯片的OLED屏幕，I2C接口，128×64分辨率，低功耗，宽视角，可实时显示环境参数。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01765" y="4373880"/>
            <a:ext cx="4886325" cy="1162685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无线通信模块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01765" y="4885690"/>
            <a:ext cx="5083175" cy="1415415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ESP32-C3 WiFi模块，支持AT指令，实现手机APP远程监控与参数调节，方便用户随时随地掌握盆栽生长状况。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978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显示与通信模块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04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软件开发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1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654300" y="466090"/>
            <a:ext cx="56997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sym typeface="MiSans" panose="00000500000000000000" pitchFamily="34" charset="-122"/>
              </a:rPr>
              <a:t>主程序流程图</a:t>
            </a:r>
            <a:endParaRPr lang="zh-CN" altLang="en-US" sz="3600">
              <a:solidFill>
                <a:schemeClr val="bg1"/>
              </a:solidFill>
              <a:latin typeface="MiSans" panose="00000500000000000000" pitchFamily="34" charset="-122"/>
              <a:ea typeface="MiSans" panose="00000500000000000000" pitchFamily="34" charset="-122"/>
              <a:sym typeface="MiSans" panose="0000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466850"/>
            <a:ext cx="10220325" cy="46856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28-d0shog475iks832je3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34" y="1889760"/>
            <a:ext cx="70265" cy="21600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5-30-10:47:28-d0shog475iks832je3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479" y="1896110"/>
            <a:ext cx="70265" cy="2160000"/>
          </a:xfrm>
          <a:prstGeom prst="rect">
            <a:avLst/>
          </a:prstGeom>
        </p:spPr>
      </p:pic>
      <p:pic>
        <p:nvPicPr>
          <p:cNvPr id="7" name="Image 3" descr="https://test-kimi-img.moonshot.cn/pub/slides/slides_tmpl/image/25-05-30-10:47:28-d0shog475iks832je3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4024630"/>
            <a:ext cx="70485" cy="2160270"/>
          </a:xfrm>
          <a:prstGeom prst="rect">
            <a:avLst/>
          </a:prstGeom>
        </p:spPr>
      </p:pic>
      <p:pic>
        <p:nvPicPr>
          <p:cNvPr id="8" name="Image 4" descr="https://test-kimi-img.moonshot.cn/pub/slides/slides_tmpl/image/25-05-30-10:47:28-d0shog475iks832je3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210" y="4024630"/>
            <a:ext cx="70485" cy="216027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83615" y="1920875"/>
            <a:ext cx="4833620" cy="79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数据采集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983615" y="2343150"/>
            <a:ext cx="4090035" cy="574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定时采集土壤湿度、温湿度、光照强度、二氧化碳浓度等数据，确保数据实时性与准确性。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6675120" y="1920875"/>
            <a:ext cx="4833620" cy="79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控制执行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6675120" y="2343150"/>
            <a:ext cx="4090035" cy="574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根据控制指令，智能控制水泵、补光灯、风扇等执行机构动作，实现自动化养护。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1445895" y="4289425"/>
            <a:ext cx="4833620" cy="79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数据处理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1445895" y="4737100"/>
            <a:ext cx="4090035" cy="574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对采集数据进行算法分析处理，判断是否达到设定阈值，生成控制指令。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7214870" y="4289425"/>
            <a:ext cx="4833620" cy="79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通信交互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7214870" y="4737100"/>
            <a:ext cx="4090035" cy="574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通过ESP32-C3模块，实现与手机APP的数据传输与指令接收，支持远程监控与调节。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-2540" y="4032885"/>
            <a:ext cx="12169775" cy="0"/>
          </a:xfrm>
          <a:prstGeom prst="line">
            <a:avLst/>
          </a:prstGeom>
          <a:noFill/>
          <a:ln w="28575">
            <a:solidFill>
              <a:srgbClr val="770223"/>
            </a:solidFill>
            <a:prstDash val="dash"/>
            <a:headEnd type="none"/>
            <a:tailEnd type="none"/>
          </a:ln>
        </p:spPr>
      </p:sp>
      <p:sp>
        <p:nvSpPr>
          <p:cNvPr id="18" name="Text 11"/>
          <p:cNvSpPr/>
          <p:nvPr/>
        </p:nvSpPr>
        <p:spPr>
          <a:xfrm>
            <a:off x="6819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程序功能设计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3105" y="1908175"/>
            <a:ext cx="10631805" cy="1004570"/>
          </a:xfrm>
          <a:custGeom>
            <a:avLst/>
            <a:gdLst/>
            <a:ahLst/>
            <a:cxnLst/>
            <a:rect l="l" t="t" r="r" b="b"/>
            <a:pathLst>
              <a:path w="10631805" h="1004570">
                <a:moveTo>
                  <a:pt x="0" y="1004570"/>
                </a:moveTo>
                <a:cubicBezTo>
                  <a:pt x="273685" y="877589"/>
                  <a:pt x="850900" y="466171"/>
                  <a:pt x="1570990" y="395697"/>
                </a:cubicBezTo>
                <a:cubicBezTo>
                  <a:pt x="2291080" y="325222"/>
                  <a:pt x="2812415" y="730926"/>
                  <a:pt x="3601085" y="652198"/>
                </a:cubicBezTo>
                <a:cubicBezTo>
                  <a:pt x="4389755" y="573470"/>
                  <a:pt x="4488180" y="-24610"/>
                  <a:pt x="5513705" y="786"/>
                </a:cubicBezTo>
                <a:cubicBezTo>
                  <a:pt x="6539230" y="26182"/>
                  <a:pt x="7706360" y="671245"/>
                  <a:pt x="8729980" y="780449"/>
                </a:cubicBezTo>
                <a:cubicBezTo>
                  <a:pt x="9753600" y="889652"/>
                  <a:pt x="10315575" y="608390"/>
                  <a:pt x="10631805" y="545534"/>
                </a:cubicBezTo>
              </a:path>
            </a:pathLst>
          </a:custGeom>
          <a:solidFill>
            <a:srgbClr val="000000">
              <a:alpha val="0"/>
            </a:srgbClr>
          </a:solidFill>
          <a:ln w="28575">
            <a:solidFill>
              <a:srgbClr val="7702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105" y="1908175"/>
            <a:ext cx="10631805" cy="1004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04695" y="2007235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004695" y="2007235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91360" y="2143125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72785" y="1570990"/>
            <a:ext cx="637540" cy="638175"/>
          </a:xfrm>
          <a:prstGeom prst="ellipse">
            <a:avLst/>
          </a:prstGeom>
          <a:gradFill flip="none" rotWithShape="1">
            <a:gsLst>
              <a:gs pos="10000">
                <a:srgbClr val="725FD8"/>
              </a:gs>
              <a:gs pos="56000">
                <a:srgbClr val="271A6C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342390">
                <a:alpha val="6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72785" y="1570990"/>
            <a:ext cx="637540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46115" y="1737360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540240" y="2394585"/>
            <a:ext cx="637540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540240" y="2394585"/>
            <a:ext cx="637540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526270" y="2560955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9130" y="3448685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初始化流程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8971" y="3830955"/>
            <a:ext cx="3470913" cy="574873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系统上电后，初始化各硬件模块，配置通信参数，进入待机状态。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08805" y="2708910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主循环流程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52303" y="3091814"/>
            <a:ext cx="3403600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在主循环中，依次执行数据采集、数据处理、控制执行、通信交互任务，循环运行，确保系统稳定运行。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57687" y="3430270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中断处理流程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01184" y="3813176"/>
            <a:ext cx="3403600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配置定时器中断，实现定时任务，如定时采集数据、定时刷新显示等，提高系统实时性。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863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程序流程设计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7540" y="1656080"/>
            <a:ext cx="11016615" cy="1618615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7540" y="1656080"/>
            <a:ext cx="11016615" cy="16186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1484" y="2289810"/>
            <a:ext cx="10341056" cy="1046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软件采用模块化设计，将系统功能划分为传感器采集模块、数据处理模块、通信模块、执行控制模块等。各模块独立开发与测试，便于功能扩展与维护。例如，新增传感器时，只需开发对应采集模块，无需修改其他部分，提升了开发效率与系统可扩展性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71484" y="1774825"/>
            <a:ext cx="10424875" cy="5969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模块化设计</a:t>
            </a: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48425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8425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6804748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优化设计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6804748" y="4267200"/>
            <a:ext cx="4511458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在优化设计方面，软件通过任务调度优化资源分配，提高系统响应速度。例如，使用定时器中断实现传感器数据周期采集，减少</a:t>
            </a:r>
            <a:r>
              <a:rPr lang="en-US" altLang="zh-CN" sz="1400" dirty="0">
                <a:solidFill>
                  <a:schemeClr val="bg1"/>
                </a:solidFill>
              </a:rPr>
              <a:t>CPU</a:t>
            </a:r>
            <a:r>
              <a:rPr lang="zh-CN" altLang="en-US" sz="1400" dirty="0">
                <a:solidFill>
                  <a:schemeClr val="bg1"/>
                </a:solidFill>
              </a:rPr>
              <a:t>占用时间；对通信模块进行协议优化，降低数据传输延迟。同时，采用代码优化技术，减少内存占用，提升系统运行效率。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>
            <p:custDataLst>
              <p:tags r:id="rId5"/>
            </p:custDataLst>
          </p:nvPr>
        </p:nvSpPr>
        <p:spPr>
          <a:xfrm>
            <a:off x="637540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540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993863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层次化设计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993863" y="4267200"/>
            <a:ext cx="4511458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软件架构采用层次化设计，分为硬件驱动层、中间处理层和应用逻辑层。硬件驱动层负责与硬件设备交互，中间处理层实现数据处理与算法运算，应用逻辑层负责系统功能实现与用户交互。层次化设计使各层功能清晰，便于调试与优化，增强了系统的可维护性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055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软件架构设计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05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系统调试与结果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1" descr="https://test-kimi-img.moonshot.cn/pub/slides/slides_tmpl/image/25-05-30-10:47:47-d0shoks75iks832je3lg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3335"/>
            <a:ext cx="5393055" cy="6858000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3"/>
            </p:custDataLst>
          </p:nvPr>
        </p:nvSpPr>
        <p:spPr>
          <a:xfrm>
            <a:off x="6492875" y="2611755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执行机构调试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4"/>
            </p:custDataLst>
          </p:nvPr>
        </p:nvSpPr>
        <p:spPr>
          <a:xfrm>
            <a:off x="6492240" y="3093085"/>
            <a:ext cx="5083175" cy="148463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在传感器调试中，对</a:t>
            </a:r>
            <a:r>
              <a:rPr lang="en-US" altLang="zh-CN" sz="1400" dirty="0">
                <a:solidFill>
                  <a:schemeClr val="bg1"/>
                </a:solidFill>
              </a:rPr>
              <a:t>DHT11</a:t>
            </a:r>
            <a:r>
              <a:rPr lang="zh-CN" altLang="en-US" sz="1400" dirty="0">
                <a:solidFill>
                  <a:schemeClr val="bg1"/>
                </a:solidFill>
              </a:rPr>
              <a:t>温湿度传感器、</a:t>
            </a:r>
            <a:r>
              <a:rPr lang="en-US" altLang="zh-CN" sz="1400" dirty="0">
                <a:solidFill>
                  <a:schemeClr val="bg1"/>
                </a:solidFill>
              </a:rPr>
              <a:t>HW-080</a:t>
            </a:r>
            <a:r>
              <a:rPr lang="zh-CN" altLang="en-US" sz="1400" dirty="0">
                <a:solidFill>
                  <a:schemeClr val="bg1"/>
                </a:solidFill>
              </a:rPr>
              <a:t>土壤湿度传感器和光照传感器逐一校准。通过对比标准仪器数据，调整传感器参数，确保采集数据的准确性。测试传感器在不同环境条件下的稳定性，如高温、高湿度等，确保其长期可靠工作。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5768975" y="4599940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通信模块调试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5768340" y="5081270"/>
            <a:ext cx="5083175" cy="148463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通信模块调试主要针对</a:t>
            </a:r>
            <a:r>
              <a:rPr lang="en-US" altLang="zh-CN" sz="1400" dirty="0">
                <a:solidFill>
                  <a:schemeClr val="bg1"/>
                </a:solidFill>
              </a:rPr>
              <a:t>ESP32-C3 WiFi</a:t>
            </a:r>
            <a:r>
              <a:rPr lang="zh-CN" altLang="en-US" sz="1400" dirty="0">
                <a:solidFill>
                  <a:schemeClr val="bg1"/>
                </a:solidFill>
              </a:rPr>
              <a:t>模块。测试其在不同网络环境下的连接稳定性，包括信号强度弱、干扰多的场景。通过发送大量数据包，验证数据传输的完整性和低延迟性，确保系统与手机</a:t>
            </a:r>
            <a:r>
              <a:rPr lang="en-US" altLang="zh-CN" sz="1400" dirty="0">
                <a:solidFill>
                  <a:schemeClr val="bg1"/>
                </a:solidFill>
              </a:rPr>
              <a:t>APP</a:t>
            </a:r>
            <a:r>
              <a:rPr lang="zh-CN" altLang="en-US" sz="1400" dirty="0">
                <a:solidFill>
                  <a:schemeClr val="bg1"/>
                </a:solidFill>
              </a:rPr>
              <a:t>之间的指令交互准确无误，实现远程控制功能。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>
            <p:custDataLst>
              <p:tags r:id="rId7"/>
            </p:custDataLst>
          </p:nvPr>
        </p:nvSpPr>
        <p:spPr>
          <a:xfrm>
            <a:off x="5768340" y="622935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传感器调试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8"/>
            </p:custDataLst>
          </p:nvPr>
        </p:nvSpPr>
        <p:spPr>
          <a:xfrm>
            <a:off x="5768340" y="1104265"/>
            <a:ext cx="5083175" cy="148590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在传感器调试中，对</a:t>
            </a:r>
            <a:r>
              <a:rPr lang="en-US" altLang="zh-CN" sz="1400" dirty="0">
                <a:solidFill>
                  <a:schemeClr val="bg1"/>
                </a:solidFill>
              </a:rPr>
              <a:t>DHT11</a:t>
            </a:r>
            <a:r>
              <a:rPr lang="zh-CN" altLang="en-US" sz="1400" dirty="0">
                <a:solidFill>
                  <a:schemeClr val="bg1"/>
                </a:solidFill>
              </a:rPr>
              <a:t>温湿度传感器、</a:t>
            </a:r>
            <a:r>
              <a:rPr lang="en-US" altLang="zh-CN" sz="1400" dirty="0">
                <a:solidFill>
                  <a:schemeClr val="bg1"/>
                </a:solidFill>
              </a:rPr>
              <a:t>HW-080</a:t>
            </a:r>
            <a:r>
              <a:rPr lang="zh-CN" altLang="en-US" sz="1400" dirty="0">
                <a:solidFill>
                  <a:schemeClr val="bg1"/>
                </a:solidFill>
              </a:rPr>
              <a:t>土壤湿度传感器和光照传感器逐一校准。通过对比标准仪器数据，调整传感器参数，确保采集数据的准确性。测试传感器在不同环境条件下的稳定性，如高温、高湿度等，确保其长期可靠工作。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597535" y="2781300"/>
            <a:ext cx="4161790" cy="183769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硬件调试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6200000">
            <a:off x="6962775" y="-4806315"/>
            <a:ext cx="1484630" cy="1397698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42390">
              <a:alpha val="12941"/>
            </a:srgbClr>
          </a:solidFill>
        </p:spPr>
      </p:sp>
      <p:sp>
        <p:nvSpPr>
          <p:cNvPr id="8" name="Text 5"/>
          <p:cNvSpPr/>
          <p:nvPr/>
        </p:nvSpPr>
        <p:spPr>
          <a:xfrm rot="16200000">
            <a:off x="6962775" y="-4806315"/>
            <a:ext cx="1484630" cy="139769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65225" y="1904365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65225" y="1904365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65225" y="2075180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165225" y="2075180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25650" y="148590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单元测试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025650" y="1840230"/>
            <a:ext cx="7555230" cy="105029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</a:rPr>
              <a:t>在单元测试阶段，针对系统中的各个模块进行了独立的功能验证。例如，对</a:t>
            </a:r>
            <a:r>
              <a:rPr lang="en-US" altLang="zh-CN" sz="1200" dirty="0">
                <a:solidFill>
                  <a:schemeClr val="bg1"/>
                </a:solidFill>
              </a:rPr>
              <a:t>DHT11</a:t>
            </a:r>
            <a:r>
              <a:rPr lang="zh-CN" altLang="en-US" sz="1200" dirty="0">
                <a:solidFill>
                  <a:schemeClr val="bg1"/>
                </a:solidFill>
              </a:rPr>
              <a:t>温湿度传感器模块进行测试，确保其能够准确采集温度和湿度数据并正确输出；对</a:t>
            </a:r>
            <a:r>
              <a:rPr lang="en-US" altLang="zh-CN" sz="1200" dirty="0">
                <a:solidFill>
                  <a:schemeClr val="bg1"/>
                </a:solidFill>
              </a:rPr>
              <a:t>OLED</a:t>
            </a:r>
            <a:r>
              <a:rPr lang="zh-CN" altLang="en-US" sz="1200" dirty="0">
                <a:solidFill>
                  <a:schemeClr val="bg1"/>
                </a:solidFill>
              </a:rPr>
              <a:t>显示模块进行测试，验证其显示内容的完整性和准确性。同时，对水泵、风扇等执行模块的控制逻辑进行了单独测试，确保每个模块在给定输入下能够正常工作，为后续集成测试奠定了基础。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 rot="16200000">
            <a:off x="7129145" y="-2388870"/>
            <a:ext cx="1484630" cy="125539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E0447">
              <a:alpha val="12941"/>
            </a:srgbClr>
          </a:solidFill>
        </p:spPr>
      </p:sp>
      <p:sp>
        <p:nvSpPr>
          <p:cNvPr id="16" name="Text 13"/>
          <p:cNvSpPr/>
          <p:nvPr/>
        </p:nvSpPr>
        <p:spPr>
          <a:xfrm rot="16200000">
            <a:off x="7129145" y="-2388870"/>
            <a:ext cx="1484630" cy="125539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077720" y="3559810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725FD8"/>
              </a:gs>
              <a:gs pos="56000">
                <a:srgbClr val="271A6C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342390">
                <a:alpha val="6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077720" y="3559810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051050" y="3730943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2051050" y="3730943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855595" y="324993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集成测试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855595" y="3604260"/>
            <a:ext cx="7555230" cy="105029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</a:rPr>
              <a:t>集成测试阶段主要关注模块间的协同工作。将传感器模块与</a:t>
            </a:r>
            <a:r>
              <a:rPr lang="en-US" altLang="zh-CN" sz="1200" dirty="0">
                <a:solidFill>
                  <a:schemeClr val="bg1"/>
                </a:solidFill>
              </a:rPr>
              <a:t>STM32</a:t>
            </a:r>
            <a:r>
              <a:rPr lang="zh-CN" altLang="en-US" sz="1200" dirty="0">
                <a:solidFill>
                  <a:schemeClr val="bg1"/>
                </a:solidFill>
              </a:rPr>
              <a:t>主控芯片连接，验证数据采集后能否正确传输至主控并进行处理。测试传感器数据与执行模块的联动，如土壤湿度低于阈值时水泵是否能自动启动。同时，对通信模块与主控的集成进行了测试，确保数据能够稳定传输至手机</a:t>
            </a:r>
            <a:r>
              <a:rPr lang="en-US" altLang="zh-CN" sz="1200" dirty="0">
                <a:solidFill>
                  <a:schemeClr val="bg1"/>
                </a:solidFill>
              </a:rPr>
              <a:t>APP</a:t>
            </a:r>
            <a:r>
              <a:rPr lang="zh-CN" altLang="en-US" sz="1200" dirty="0">
                <a:solidFill>
                  <a:schemeClr val="bg1"/>
                </a:solidFill>
              </a:rPr>
              <a:t>，</a:t>
            </a:r>
            <a:r>
              <a:rPr lang="en-US" altLang="zh-CN" sz="1200" dirty="0">
                <a:solidFill>
                  <a:schemeClr val="bg1"/>
                </a:solidFill>
              </a:rPr>
              <a:t>APP</a:t>
            </a:r>
            <a:r>
              <a:rPr lang="zh-CN" altLang="en-US" sz="1200" dirty="0">
                <a:solidFill>
                  <a:schemeClr val="bg1"/>
                </a:solidFill>
              </a:rPr>
              <a:t>的控制指令也能准确传达至设备，验证了系统整体功能的连贯性。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 rot="16200000">
            <a:off x="7332345" y="139065"/>
            <a:ext cx="1484630" cy="109410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42390">
              <a:alpha val="12941"/>
            </a:srgbClr>
          </a:solidFill>
        </p:spPr>
      </p:sp>
      <p:sp>
        <p:nvSpPr>
          <p:cNvPr id="24" name="Text 21"/>
          <p:cNvSpPr/>
          <p:nvPr/>
        </p:nvSpPr>
        <p:spPr>
          <a:xfrm rot="16200000">
            <a:off x="7332345" y="139065"/>
            <a:ext cx="1484630" cy="10941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072130" y="5339080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072130" y="5339080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058795" y="5510213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3058795" y="5510213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035425" y="495300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系统测试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035425" y="5307330"/>
            <a:ext cx="7555230" cy="105029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</a:rPr>
              <a:t>系统测试阶段对整个系统的功能和性能进行了全面验证。在实际运行环境中，测试了系统对环境变化的响应速度和准确性，如光照强度变化时</a:t>
            </a:r>
            <a:r>
              <a:rPr lang="en-US" altLang="zh-CN" sz="1200" dirty="0">
                <a:solidFill>
                  <a:schemeClr val="bg1"/>
                </a:solidFill>
              </a:rPr>
              <a:t>LED</a:t>
            </a:r>
            <a:r>
              <a:rPr lang="zh-CN" altLang="en-US" sz="1200" dirty="0">
                <a:solidFill>
                  <a:schemeClr val="bg1"/>
                </a:solidFill>
              </a:rPr>
              <a:t>补光灯的自动开关。同时，对系统的稳定性进行了长时间运行测试，确保在连续工作状态下无数据丢失或模块故障。此外，还测试了系统的功耗表现和用户交互界面的友好性，确保系统在实际应用中能够稳定、高效地运行，满足用户需求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8978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软件调试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578485" y="3972696"/>
            <a:ext cx="5320657" cy="2365874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342390">
                  <a:alpha val="40000"/>
                </a:srgbClr>
              </a:gs>
              <a:gs pos="100000">
                <a:srgbClr val="342390">
                  <a:alpha val="5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8485" y="3972696"/>
            <a:ext cx="5320657" cy="23658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 flipV="1">
            <a:off x="578485" y="1488440"/>
            <a:ext cx="5320657" cy="2365874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E34A6E">
                  <a:alpha val="40000"/>
                </a:srgbClr>
              </a:gs>
              <a:gs pos="100000">
                <a:srgbClr val="EE0447">
                  <a:alpha val="41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8485" y="1488440"/>
            <a:ext cx="5320657" cy="23658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 flipH="1">
            <a:off x="6298573" y="3972696"/>
            <a:ext cx="5320657" cy="2365874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E34A6E">
                  <a:alpha val="40000"/>
                </a:srgbClr>
              </a:gs>
              <a:gs pos="100000">
                <a:srgbClr val="EE0447">
                  <a:alpha val="41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8573" y="3972696"/>
            <a:ext cx="5320657" cy="23658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 flipH="1" flipV="1">
            <a:off x="6298573" y="1506518"/>
            <a:ext cx="5320657" cy="2365874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342390">
                  <a:alpha val="40000"/>
                </a:srgbClr>
              </a:gs>
              <a:gs pos="100000">
                <a:srgbClr val="342390">
                  <a:alpha val="5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8573" y="1506518"/>
            <a:ext cx="5320657" cy="23658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721089" y="2054687"/>
            <a:ext cx="4287816" cy="164147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</a:rPr>
              <a:t>系统在环境数据监测方面表现出色，通过</a:t>
            </a:r>
            <a:r>
              <a:rPr lang="en-US" altLang="zh-CN" sz="1200" dirty="0">
                <a:solidFill>
                  <a:schemeClr val="bg1"/>
                </a:solidFill>
              </a:rPr>
              <a:t>DHT11</a:t>
            </a:r>
            <a:r>
              <a:rPr lang="zh-CN" altLang="en-US" sz="1200" dirty="0">
                <a:solidFill>
                  <a:schemeClr val="bg1"/>
                </a:solidFill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</a:rPr>
              <a:t>HW-080</a:t>
            </a:r>
            <a:r>
              <a:rPr lang="zh-CN" altLang="en-US" sz="1200" dirty="0">
                <a:solidFill>
                  <a:schemeClr val="bg1"/>
                </a:solidFill>
              </a:rPr>
              <a:t>等传感器采集温湿度、土壤湿度和光照强度数据，经</a:t>
            </a:r>
            <a:r>
              <a:rPr lang="en-US" altLang="zh-CN" sz="1200" dirty="0">
                <a:solidFill>
                  <a:schemeClr val="bg1"/>
                </a:solidFill>
              </a:rPr>
              <a:t>OLED</a:t>
            </a:r>
            <a:r>
              <a:rPr lang="zh-CN" altLang="en-US" sz="1200" dirty="0">
                <a:solidFill>
                  <a:schemeClr val="bg1"/>
                </a:solidFill>
              </a:rPr>
              <a:t>实时显示，数据准确且稳定。测试中，数据刷新间隔</a:t>
            </a:r>
            <a:r>
              <a:rPr lang="en-US" altLang="zh-CN" sz="1200" dirty="0">
                <a:solidFill>
                  <a:schemeClr val="bg1"/>
                </a:solidFill>
              </a:rPr>
              <a:t>3ms</a:t>
            </a:r>
            <a:r>
              <a:rPr lang="zh-CN" altLang="en-US" sz="1200" dirty="0">
                <a:solidFill>
                  <a:schemeClr val="bg1"/>
                </a:solidFill>
              </a:rPr>
              <a:t>，采集间隔</a:t>
            </a:r>
            <a:r>
              <a:rPr lang="en-US" altLang="zh-CN" sz="1200" dirty="0">
                <a:solidFill>
                  <a:schemeClr val="bg1"/>
                </a:solidFill>
              </a:rPr>
              <a:t>200ms</a:t>
            </a:r>
            <a:r>
              <a:rPr lang="zh-CN" altLang="en-US" sz="1200" dirty="0">
                <a:solidFill>
                  <a:schemeClr val="bg1"/>
                </a:solidFill>
              </a:rPr>
              <a:t>，无明显延迟或误差。例如，用手触摸传感器时，温度值</a:t>
            </a:r>
            <a:r>
              <a:rPr lang="en-US" altLang="zh-CN" sz="1200" dirty="0">
                <a:solidFill>
                  <a:schemeClr val="bg1"/>
                </a:solidFill>
              </a:rPr>
              <a:t>3</a:t>
            </a:r>
            <a:r>
              <a:rPr lang="zh-CN" altLang="en-US" sz="1200" dirty="0">
                <a:solidFill>
                  <a:schemeClr val="bg1"/>
                </a:solidFill>
              </a:rPr>
              <a:t>秒内上升</a:t>
            </a:r>
            <a:r>
              <a:rPr lang="en-US" altLang="zh-CN" sz="1200" dirty="0">
                <a:solidFill>
                  <a:schemeClr val="bg1"/>
                </a:solidFill>
              </a:rPr>
              <a:t>0.5</a:t>
            </a:r>
            <a:r>
              <a:rPr lang="" altLang="en-US" sz="1200" dirty="0">
                <a:solidFill>
                  <a:schemeClr val="bg1"/>
                </a:solidFill>
              </a:rPr>
              <a:t>℃</a:t>
            </a:r>
            <a:r>
              <a:rPr lang="zh-CN" altLang="en-US" sz="1200" dirty="0">
                <a:solidFill>
                  <a:schemeClr val="bg1"/>
                </a:solidFill>
              </a:rPr>
              <a:t>，屏幕显示清晰，对比度适中，无残影现象，满足实时监测需求。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721089" y="1623733"/>
            <a:ext cx="463948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环境数据监测</a:t>
            </a:r>
            <a:endParaRPr lang="en-US" sz="1600" dirty="0"/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721089" y="4525530"/>
            <a:ext cx="4287816" cy="138303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</a:rPr>
              <a:t>阈值控制系统测试结果表明，系统能根据设定阈值自动触发外设操作。例如，光照强度低于</a:t>
            </a:r>
            <a:r>
              <a:rPr lang="en-US" altLang="zh-CN" sz="1200" dirty="0">
                <a:solidFill>
                  <a:schemeClr val="bg1"/>
                </a:solidFill>
              </a:rPr>
              <a:t>150Lux</a:t>
            </a:r>
            <a:r>
              <a:rPr lang="zh-CN" altLang="en-US" sz="1200" dirty="0">
                <a:solidFill>
                  <a:schemeClr val="bg1"/>
                </a:solidFill>
              </a:rPr>
              <a:t>时，</a:t>
            </a:r>
            <a:r>
              <a:rPr lang="en-US" altLang="zh-CN" sz="1200" dirty="0">
                <a:solidFill>
                  <a:schemeClr val="bg1"/>
                </a:solidFill>
              </a:rPr>
              <a:t>LED</a:t>
            </a:r>
            <a:r>
              <a:rPr lang="zh-CN" altLang="en-US" sz="1200" dirty="0">
                <a:solidFill>
                  <a:schemeClr val="bg1"/>
                </a:solidFill>
              </a:rPr>
              <a:t>补光灯自动打开；高于阈值时自动关闭。土壤湿度低于</a:t>
            </a:r>
            <a:r>
              <a:rPr lang="en-US" altLang="zh-CN" sz="1200" dirty="0">
                <a:solidFill>
                  <a:schemeClr val="bg1"/>
                </a:solidFill>
              </a:rPr>
              <a:t>34%</a:t>
            </a:r>
            <a:r>
              <a:rPr lang="zh-CN" altLang="en-US" sz="1200" dirty="0">
                <a:solidFill>
                  <a:schemeClr val="bg1"/>
                </a:solidFill>
              </a:rPr>
              <a:t>时，水泵启动灌溉；高于阈值时停止。温度高于</a:t>
            </a:r>
            <a:r>
              <a:rPr lang="en-US" altLang="zh-CN" sz="1200" dirty="0">
                <a:solidFill>
                  <a:schemeClr val="bg1"/>
                </a:solidFill>
              </a:rPr>
              <a:t>28</a:t>
            </a:r>
            <a:r>
              <a:rPr lang="" altLang="en-US" sz="1200" dirty="0">
                <a:solidFill>
                  <a:schemeClr val="bg1"/>
                </a:solidFill>
              </a:rPr>
              <a:t>℃</a:t>
            </a:r>
            <a:r>
              <a:rPr lang="zh-CN" altLang="en-US" sz="1200" dirty="0">
                <a:solidFill>
                  <a:schemeClr val="bg1"/>
                </a:solidFill>
              </a:rPr>
              <a:t>时，排气扇启动降温；低于阈值时停止。各外设响应迅速，动作准确，符合预期设定。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721089" y="4117902"/>
            <a:ext cx="463948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自动控制功能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7176349" y="4525530"/>
            <a:ext cx="4287816" cy="138303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</a:rPr>
              <a:t>在</a:t>
            </a:r>
            <a:r>
              <a:rPr lang="en-US" altLang="zh-CN" sz="1200" dirty="0">
                <a:solidFill>
                  <a:schemeClr val="bg1"/>
                </a:solidFill>
              </a:rPr>
              <a:t>TCP</a:t>
            </a:r>
            <a:r>
              <a:rPr lang="zh-CN" altLang="en-US" sz="1200" dirty="0">
                <a:solidFill>
                  <a:schemeClr val="bg1"/>
                </a:solidFill>
              </a:rPr>
              <a:t>通信测试中，系统通信稳定，数据交互成功率</a:t>
            </a:r>
            <a:r>
              <a:rPr lang="en-US" altLang="zh-CN" sz="1200" dirty="0">
                <a:solidFill>
                  <a:schemeClr val="bg1"/>
                </a:solidFill>
              </a:rPr>
              <a:t>100%</a:t>
            </a:r>
            <a:r>
              <a:rPr lang="zh-CN" altLang="en-US" sz="1200" dirty="0">
                <a:solidFill>
                  <a:schemeClr val="bg1"/>
                </a:solidFill>
              </a:rPr>
              <a:t>。累计接收数据包</a:t>
            </a:r>
            <a:r>
              <a:rPr lang="en-US" altLang="zh-CN" sz="1200" dirty="0">
                <a:solidFill>
                  <a:schemeClr val="bg1"/>
                </a:solidFill>
              </a:rPr>
              <a:t>2867</a:t>
            </a:r>
            <a:r>
              <a:rPr lang="zh-CN" altLang="en-US" sz="1200" dirty="0">
                <a:solidFill>
                  <a:schemeClr val="bg1"/>
                </a:solidFill>
              </a:rPr>
              <a:t>次，发送成功率</a:t>
            </a:r>
            <a:r>
              <a:rPr lang="en-US" altLang="zh-CN" sz="1200" dirty="0">
                <a:solidFill>
                  <a:schemeClr val="bg1"/>
                </a:solidFill>
              </a:rPr>
              <a:t>136</a:t>
            </a:r>
            <a:r>
              <a:rPr lang="zh-CN" altLang="en-US" sz="1200" dirty="0">
                <a:solidFill>
                  <a:schemeClr val="bg1"/>
                </a:solidFill>
              </a:rPr>
              <a:t>次，无失败记录。设备重连耗时小于</a:t>
            </a:r>
            <a:r>
              <a:rPr lang="en-US" altLang="zh-CN" sz="1200" dirty="0">
                <a:solidFill>
                  <a:schemeClr val="bg1"/>
                </a:solidFill>
              </a:rPr>
              <a:t>1</a:t>
            </a:r>
            <a:r>
              <a:rPr lang="zh-CN" altLang="en-US" sz="1200" dirty="0">
                <a:solidFill>
                  <a:schemeClr val="bg1"/>
                </a:solidFill>
              </a:rPr>
              <a:t>秒，指令响应时间小于</a:t>
            </a:r>
            <a:r>
              <a:rPr lang="en-US" altLang="zh-CN" sz="1200" dirty="0">
                <a:solidFill>
                  <a:schemeClr val="bg1"/>
                </a:solidFill>
              </a:rPr>
              <a:t>500ms</a:t>
            </a:r>
            <a:r>
              <a:rPr lang="zh-CN" altLang="en-US" sz="1200" dirty="0">
                <a:solidFill>
                  <a:schemeClr val="bg1"/>
                </a:solidFill>
              </a:rPr>
              <a:t>。支持多种阈值设置及外设控制指令，服务端可稳定处理多设备并发连接，确保远程监控与控制的可靠性。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7129969" y="4117902"/>
            <a:ext cx="4381962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TCP稳定性</a:t>
            </a:r>
            <a:endParaRPr lang="en-US" sz="1600" dirty="0"/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7176349" y="2054687"/>
            <a:ext cx="4287816" cy="138303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</a:rPr>
              <a:t>从用户交互角度看，系统通过手机</a:t>
            </a:r>
            <a:r>
              <a:rPr lang="en-US" altLang="zh-CN" sz="1200" dirty="0">
                <a:solidFill>
                  <a:schemeClr val="bg1"/>
                </a:solidFill>
              </a:rPr>
              <a:t>APP</a:t>
            </a:r>
            <a:r>
              <a:rPr lang="zh-CN" altLang="en-US" sz="1200" dirty="0">
                <a:solidFill>
                  <a:schemeClr val="bg1"/>
                </a:solidFill>
              </a:rPr>
              <a:t>和本地</a:t>
            </a:r>
            <a:r>
              <a:rPr lang="en-US" altLang="zh-CN" sz="1200" dirty="0">
                <a:solidFill>
                  <a:schemeClr val="bg1"/>
                </a:solidFill>
              </a:rPr>
              <a:t>OLED</a:t>
            </a:r>
            <a:r>
              <a:rPr lang="zh-CN" altLang="en-US" sz="1200" dirty="0">
                <a:solidFill>
                  <a:schemeClr val="bg1"/>
                </a:solidFill>
              </a:rPr>
              <a:t>显示提供了便捷的操作界面。用户可通过</a:t>
            </a:r>
            <a:r>
              <a:rPr lang="en-US" altLang="zh-CN" sz="1200" dirty="0">
                <a:solidFill>
                  <a:schemeClr val="bg1"/>
                </a:solidFill>
              </a:rPr>
              <a:t>APP</a:t>
            </a:r>
            <a:r>
              <a:rPr lang="zh-CN" altLang="en-US" sz="1200" dirty="0">
                <a:solidFill>
                  <a:schemeClr val="bg1"/>
                </a:solidFill>
              </a:rPr>
              <a:t>远程设置阈值、监控环境数据，并手动控制外设，操作简单直观。本地</a:t>
            </a:r>
            <a:r>
              <a:rPr lang="en-US" altLang="zh-CN" sz="1200" dirty="0">
                <a:solidFill>
                  <a:schemeClr val="bg1"/>
                </a:solidFill>
              </a:rPr>
              <a:t>OLED</a:t>
            </a:r>
            <a:r>
              <a:rPr lang="zh-CN" altLang="en-US" sz="1200" dirty="0">
                <a:solidFill>
                  <a:schemeClr val="bg1"/>
                </a:solidFill>
              </a:rPr>
              <a:t>屏幕实时显示环境参数，对比度和显示效果良好，即使在较暗环境中也能清晰辨识，提升了用户体验。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7129969" y="1623733"/>
            <a:ext cx="4381962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远程监控功能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8485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测试结果</a:t>
            </a:r>
            <a:endParaRPr lang="en-US" sz="1600" dirty="0"/>
          </a:p>
        </p:txBody>
      </p:sp>
      <p:sp>
        <p:nvSpPr>
          <p:cNvPr id="22" name="Shape 19"/>
          <p:cNvSpPr/>
          <p:nvPr>
            <p:custDataLst>
              <p:tags r:id="rId14"/>
            </p:custDataLst>
          </p:nvPr>
        </p:nvSpPr>
        <p:spPr>
          <a:xfrm>
            <a:off x="5751940" y="4240259"/>
            <a:ext cx="687070" cy="347616"/>
          </a:xfrm>
          <a:custGeom>
            <a:avLst/>
            <a:gdLst/>
            <a:ahLst/>
            <a:cxnLst/>
            <a:rect l="l" t="t" r="r" b="b"/>
            <a:pathLst>
              <a:path w="687070" h="347616">
                <a:moveTo>
                  <a:pt x="687070" y="247975"/>
                </a:moveTo>
                <a:lnTo>
                  <a:pt x="76692" y="34761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">
                <a:srgbClr val="E9718E"/>
              </a:gs>
              <a:gs pos="78000">
                <a:srgbClr val="DF335B"/>
              </a:gs>
            </a:gsLst>
            <a:lin ang="16200000" scaled="1"/>
          </a:gradFill>
        </p:spPr>
      </p:sp>
      <p:sp>
        <p:nvSpPr>
          <p:cNvPr id="23" name="Text 20"/>
          <p:cNvSpPr/>
          <p:nvPr/>
        </p:nvSpPr>
        <p:spPr>
          <a:xfrm>
            <a:off x="5751940" y="4240259"/>
            <a:ext cx="687070" cy="34761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1"/>
          <p:cNvSpPr/>
          <p:nvPr>
            <p:custDataLst>
              <p:tags r:id="rId15"/>
            </p:custDataLst>
          </p:nvPr>
        </p:nvSpPr>
        <p:spPr>
          <a:xfrm>
            <a:off x="5378450" y="4008695"/>
            <a:ext cx="450131" cy="579180"/>
          </a:xfrm>
          <a:custGeom>
            <a:avLst/>
            <a:gdLst/>
            <a:ahLst/>
            <a:cxnLst/>
            <a:rect l="l" t="t" r="r" b="b"/>
            <a:pathLst>
              <a:path w="450131" h="579180">
                <a:moveTo>
                  <a:pt x="0" y="0"/>
                </a:moveTo>
                <a:lnTo>
                  <a:pt x="373455" y="231402"/>
                </a:lnTo>
                <a:lnTo>
                  <a:pt x="450131" y="579180"/>
                </a:lnTo>
                <a:close/>
              </a:path>
            </a:pathLst>
          </a:custGeom>
          <a:gradFill flip="none" rotWithShape="1">
            <a:gsLst>
              <a:gs pos="19000">
                <a:srgbClr val="EE92A7"/>
              </a:gs>
              <a:gs pos="92000">
                <a:srgbClr val="E34A6E"/>
              </a:gs>
            </a:gsLst>
            <a:lin ang="0" scaled="1"/>
          </a:gradFill>
        </p:spPr>
      </p:sp>
      <p:sp>
        <p:nvSpPr>
          <p:cNvPr id="25" name="Text 22"/>
          <p:cNvSpPr/>
          <p:nvPr/>
        </p:nvSpPr>
        <p:spPr>
          <a:xfrm>
            <a:off x="5378450" y="4008695"/>
            <a:ext cx="450131" cy="579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3"/>
          <p:cNvSpPr/>
          <p:nvPr>
            <p:custDataLst>
              <p:tags r:id="rId16"/>
            </p:custDataLst>
          </p:nvPr>
        </p:nvSpPr>
        <p:spPr>
          <a:xfrm>
            <a:off x="5378450" y="3472157"/>
            <a:ext cx="373490" cy="768102"/>
          </a:xfrm>
          <a:custGeom>
            <a:avLst/>
            <a:gdLst/>
            <a:ahLst/>
            <a:cxnLst/>
            <a:rect l="l" t="t" r="r" b="b"/>
            <a:pathLst>
              <a:path w="373490" h="768102">
                <a:moveTo>
                  <a:pt x="0" y="536589"/>
                </a:moveTo>
                <a:lnTo>
                  <a:pt x="293199" y="0"/>
                </a:lnTo>
                <a:lnTo>
                  <a:pt x="373490" y="768102"/>
                </a:lnTo>
                <a:close/>
              </a:path>
            </a:pathLst>
          </a:custGeom>
          <a:gradFill flip="none" rotWithShape="1">
            <a:gsLst>
              <a:gs pos="0">
                <a:srgbClr val="F1A4B6"/>
              </a:gs>
              <a:gs pos="100000">
                <a:srgbClr val="E76382"/>
              </a:gs>
            </a:gsLst>
            <a:lin ang="600000" scaled="1"/>
          </a:gradFill>
        </p:spPr>
      </p:sp>
      <p:sp>
        <p:nvSpPr>
          <p:cNvPr id="27" name="Text 24"/>
          <p:cNvSpPr/>
          <p:nvPr/>
        </p:nvSpPr>
        <p:spPr>
          <a:xfrm>
            <a:off x="5378450" y="3472157"/>
            <a:ext cx="373490" cy="76810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5"/>
          <p:cNvSpPr/>
          <p:nvPr>
            <p:custDataLst>
              <p:tags r:id="rId17"/>
            </p:custDataLst>
          </p:nvPr>
        </p:nvSpPr>
        <p:spPr>
          <a:xfrm>
            <a:off x="5751940" y="3755000"/>
            <a:ext cx="687070" cy="733017"/>
          </a:xfrm>
          <a:custGeom>
            <a:avLst/>
            <a:gdLst/>
            <a:ahLst/>
            <a:cxnLst/>
            <a:rect l="l" t="t" r="r" b="b"/>
            <a:pathLst>
              <a:path w="687070" h="733017">
                <a:moveTo>
                  <a:pt x="656394" y="0"/>
                </a:moveTo>
                <a:lnTo>
                  <a:pt x="687070" y="733017"/>
                </a:lnTo>
                <a:lnTo>
                  <a:pt x="0" y="484919"/>
                </a:lnTo>
                <a:close/>
              </a:path>
            </a:pathLst>
          </a:custGeom>
          <a:gradFill flip="none" rotWithShape="1">
            <a:gsLst>
              <a:gs pos="36000">
                <a:srgbClr val="C31E45"/>
              </a:gs>
              <a:gs pos="100000">
                <a:srgbClr val="EB8099"/>
              </a:gs>
            </a:gsLst>
            <a:lin ang="1800000" scaled="1"/>
          </a:gradFill>
        </p:spPr>
      </p:sp>
      <p:sp>
        <p:nvSpPr>
          <p:cNvPr id="29" name="Text 26"/>
          <p:cNvSpPr/>
          <p:nvPr/>
        </p:nvSpPr>
        <p:spPr>
          <a:xfrm>
            <a:off x="5751940" y="3755000"/>
            <a:ext cx="687070" cy="73301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7"/>
          <p:cNvSpPr/>
          <p:nvPr>
            <p:custDataLst>
              <p:tags r:id="rId18"/>
            </p:custDataLst>
          </p:nvPr>
        </p:nvSpPr>
        <p:spPr>
          <a:xfrm>
            <a:off x="6337542" y="3295650"/>
            <a:ext cx="436638" cy="597533"/>
          </a:xfrm>
          <a:custGeom>
            <a:avLst/>
            <a:gdLst/>
            <a:ahLst/>
            <a:cxnLst/>
            <a:rect l="l" t="t" r="r" b="b"/>
            <a:pathLst>
              <a:path w="436638" h="597533">
                <a:moveTo>
                  <a:pt x="70818" y="459432"/>
                </a:moveTo>
                <a:lnTo>
                  <a:pt x="0" y="0"/>
                </a:lnTo>
                <a:lnTo>
                  <a:pt x="436638" y="597533"/>
                </a:lnTo>
                <a:close/>
              </a:path>
            </a:pathLst>
          </a:custGeom>
          <a:gradFill flip="none" rotWithShape="1">
            <a:gsLst>
              <a:gs pos="1000">
                <a:srgbClr val="EE92A7"/>
              </a:gs>
              <a:gs pos="92000">
                <a:srgbClr val="E34A6E"/>
              </a:gs>
            </a:gsLst>
            <a:lin ang="9600000" scaled="1"/>
          </a:gradFill>
        </p:spPr>
      </p:sp>
      <p:sp>
        <p:nvSpPr>
          <p:cNvPr id="31" name="Text 28"/>
          <p:cNvSpPr/>
          <p:nvPr/>
        </p:nvSpPr>
        <p:spPr>
          <a:xfrm>
            <a:off x="6337542" y="3295650"/>
            <a:ext cx="436638" cy="59753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2" name="Shape 29"/>
          <p:cNvSpPr/>
          <p:nvPr>
            <p:custDataLst>
              <p:tags r:id="rId19"/>
            </p:custDataLst>
          </p:nvPr>
        </p:nvSpPr>
        <p:spPr>
          <a:xfrm>
            <a:off x="6408246" y="3755000"/>
            <a:ext cx="365934" cy="733017"/>
          </a:xfrm>
          <a:custGeom>
            <a:avLst/>
            <a:gdLst/>
            <a:ahLst/>
            <a:cxnLst/>
            <a:rect l="l" t="t" r="r" b="b"/>
            <a:pathLst>
              <a:path w="365934" h="733017">
                <a:moveTo>
                  <a:pt x="0" y="0"/>
                </a:moveTo>
                <a:lnTo>
                  <a:pt x="365934" y="138033"/>
                </a:lnTo>
                <a:lnTo>
                  <a:pt x="30683" y="733017"/>
                </a:lnTo>
                <a:close/>
              </a:path>
            </a:pathLst>
          </a:custGeom>
          <a:gradFill flip="none" rotWithShape="1">
            <a:gsLst>
              <a:gs pos="28000">
                <a:srgbClr val="C31E45"/>
              </a:gs>
              <a:gs pos="100000">
                <a:srgbClr val="EB8099"/>
              </a:gs>
            </a:gsLst>
            <a:lin ang="21600000" scaled="1"/>
          </a:gradFill>
        </p:spPr>
      </p:sp>
      <p:sp>
        <p:nvSpPr>
          <p:cNvPr id="33" name="Text 30"/>
          <p:cNvSpPr/>
          <p:nvPr/>
        </p:nvSpPr>
        <p:spPr>
          <a:xfrm>
            <a:off x="6408246" y="3755000"/>
            <a:ext cx="365934" cy="73301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1"/>
          <p:cNvSpPr/>
          <p:nvPr>
            <p:custDataLst>
              <p:tags r:id="rId20"/>
            </p:custDataLst>
          </p:nvPr>
        </p:nvSpPr>
        <p:spPr>
          <a:xfrm>
            <a:off x="5671521" y="3295650"/>
            <a:ext cx="736725" cy="459350"/>
          </a:xfrm>
          <a:custGeom>
            <a:avLst/>
            <a:gdLst/>
            <a:ahLst/>
            <a:cxnLst/>
            <a:rect l="l" t="t" r="r" b="b"/>
            <a:pathLst>
              <a:path w="736725" h="459350">
                <a:moveTo>
                  <a:pt x="0" y="176430"/>
                </a:moveTo>
                <a:lnTo>
                  <a:pt x="665895" y="0"/>
                </a:lnTo>
                <a:lnTo>
                  <a:pt x="736725" y="459350"/>
                </a:lnTo>
                <a:close/>
              </a:path>
            </a:pathLst>
          </a:custGeom>
          <a:gradFill flip="none" rotWithShape="1">
            <a:gsLst>
              <a:gs pos="0">
                <a:srgbClr val="F09BAF"/>
              </a:gs>
              <a:gs pos="100000">
                <a:srgbClr val="E34A6E"/>
              </a:gs>
            </a:gsLst>
            <a:lin ang="7200000" scaled="1"/>
          </a:gradFill>
        </p:spPr>
      </p:sp>
      <p:sp>
        <p:nvSpPr>
          <p:cNvPr id="35" name="Text 32"/>
          <p:cNvSpPr/>
          <p:nvPr/>
        </p:nvSpPr>
        <p:spPr>
          <a:xfrm>
            <a:off x="5671521" y="3295650"/>
            <a:ext cx="736725" cy="4593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Shape 33"/>
          <p:cNvSpPr/>
          <p:nvPr>
            <p:custDataLst>
              <p:tags r:id="rId21"/>
            </p:custDataLst>
          </p:nvPr>
        </p:nvSpPr>
        <p:spPr>
          <a:xfrm>
            <a:off x="5671521" y="3472157"/>
            <a:ext cx="736725" cy="768102"/>
          </a:xfrm>
          <a:custGeom>
            <a:avLst/>
            <a:gdLst/>
            <a:ahLst/>
            <a:cxnLst/>
            <a:rect l="l" t="t" r="r" b="b"/>
            <a:pathLst>
              <a:path w="736725" h="768102">
                <a:moveTo>
                  <a:pt x="0" y="0"/>
                </a:moveTo>
                <a:lnTo>
                  <a:pt x="736725" y="282961"/>
                </a:lnTo>
                <a:lnTo>
                  <a:pt x="80304" y="768102"/>
                </a:lnTo>
                <a:close/>
              </a:path>
            </a:pathLst>
          </a:custGeom>
          <a:gradFill flip="none" rotWithShape="1">
            <a:gsLst>
              <a:gs pos="0">
                <a:srgbClr val="F5BFCB"/>
              </a:gs>
              <a:gs pos="100000">
                <a:srgbClr val="EA748F"/>
              </a:gs>
            </a:gsLst>
            <a:lin ang="2700000" scaled="1"/>
          </a:gradFill>
        </p:spPr>
      </p:sp>
      <p:sp>
        <p:nvSpPr>
          <p:cNvPr id="37" name="Text 34"/>
          <p:cNvSpPr/>
          <p:nvPr/>
        </p:nvSpPr>
        <p:spPr>
          <a:xfrm>
            <a:off x="5671521" y="3472157"/>
            <a:ext cx="736725" cy="76810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06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总结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66565" y="1052830"/>
            <a:ext cx="3399155" cy="825881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4675" y="1052830"/>
            <a:ext cx="3399155" cy="82588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0800000">
            <a:off x="8328660" y="-2335530"/>
            <a:ext cx="3399155" cy="889635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 rot="10800000">
            <a:off x="8328660" y="-2335530"/>
            <a:ext cx="3399155" cy="82588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51875" y="476250"/>
            <a:ext cx="2700655" cy="137160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应用前景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21076" y="1158874"/>
            <a:ext cx="2845437" cy="484378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本系统在家庭园艺、小型温室种植、校园科普教育、社区绿化以及小型农业基地等多个领域具有广阔的应用前景。在家庭园艺中，为用户提供智能化的盆栽养护解决方案，提升养护效率与植物存活率，满足人们对高品质生活和绿色家居的需求。在小型温室种植中，助力种植户实现自动化管理，降低人工成本，提高作物产量与质量。在学校中，可作为植物学与农业科技教育的实践工具，激发学生的学习兴趣。在社区绿化中，实现植物的精细化管理，提升社区环境品质。在小型农业基地中，提供低成本、高效率的环境监测与调控方案，推动农业现代化进程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81220" y="1536700"/>
            <a:ext cx="2700655" cy="137160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系统优势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81537" y="2089786"/>
            <a:ext cx="2845437" cy="484378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本系统以</a:t>
            </a:r>
            <a:r>
              <a:rPr lang="en-US" altLang="zh-CN" sz="1400" dirty="0">
                <a:solidFill>
                  <a:schemeClr val="bg1"/>
                </a:solidFill>
              </a:rPr>
              <a:t>STM32</a:t>
            </a:r>
            <a:r>
              <a:rPr lang="zh-CN" altLang="en-US" sz="1400" dirty="0">
                <a:solidFill>
                  <a:schemeClr val="bg1"/>
                </a:solidFill>
              </a:rPr>
              <a:t>微控制器为核心，集成多种传感器与执行模块，具备智能化、便捷性、稳定性和扩展性等显著优势。通过实时采集温湿度、光照强度、土壤湿度等多维度数据，结合智能决策算法，自动控制灌溉、补光、通风等操作，实现盆栽养护的精准调控。配备无线通信模块，支持手机</a:t>
            </a:r>
            <a:r>
              <a:rPr lang="en-US" altLang="zh-CN" sz="1400" dirty="0">
                <a:solidFill>
                  <a:schemeClr val="bg1"/>
                </a:solidFill>
              </a:rPr>
              <a:t>APP</a:t>
            </a:r>
            <a:r>
              <a:rPr lang="zh-CN" altLang="en-US" sz="1400" dirty="0">
                <a:solidFill>
                  <a:schemeClr val="bg1"/>
                </a:solidFill>
              </a:rPr>
              <a:t>远程监控与参数调节，用户可随时随地掌握盆栽生长状况，无需频繁现场检查，节省时间和精力。系统采用高性能的</a:t>
            </a:r>
            <a:r>
              <a:rPr lang="en-US" altLang="zh-CN" sz="1400" dirty="0">
                <a:solidFill>
                  <a:schemeClr val="bg1"/>
                </a:solidFill>
              </a:rPr>
              <a:t>STM32</a:t>
            </a:r>
            <a:r>
              <a:rPr lang="zh-CN" altLang="en-US" sz="1400" dirty="0">
                <a:solidFill>
                  <a:schemeClr val="bg1"/>
                </a:solidFill>
              </a:rPr>
              <a:t>微控制器，具备良好的抗干扰能力和环境适应性，能够在多种复杂条件下稳定运行。基于模块化设计，可灵活增加其他功能模块，满足不同用户需求，适应多样化的应用场景。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 rot="10800000">
            <a:off x="1851660" y="4380865"/>
            <a:ext cx="386080" cy="772160"/>
          </a:xfrm>
          <a:custGeom>
            <a:avLst/>
            <a:gdLst/>
            <a:ahLst/>
            <a:cxnLst/>
            <a:rect l="l" t="t" r="r" b="b"/>
            <a:pathLst>
              <a:path w="386080" h="772160">
                <a:moveTo>
                  <a:pt x="0" y="671399"/>
                </a:moveTo>
                <a:lnTo>
                  <a:pt x="0" y="0"/>
                </a:lnTo>
                <a:lnTo>
                  <a:pt x="386080" y="772160"/>
                </a:lnTo>
                <a:lnTo>
                  <a:pt x="0" y="671399"/>
                </a:lnTo>
                <a:close/>
              </a:path>
            </a:pathLst>
          </a:custGeom>
          <a:gradFill flip="none" rotWithShape="1">
            <a:gsLst>
              <a:gs pos="7000">
                <a:srgbClr val="3C29A8"/>
              </a:gs>
              <a:gs pos="100000">
                <a:srgbClr val="A195E5">
                  <a:alpha val="0"/>
                </a:srgbClr>
              </a:gs>
            </a:gsLst>
            <a:lin ang="17700000" scaled="1"/>
          </a:gradFill>
          <a:ln w="6350">
            <a:gradFill flip="none" rotWithShape="1">
              <a:gsLst>
                <a:gs pos="0">
                  <a:srgbClr val="FFFFFF"/>
                </a:gs>
                <a:gs pos="43000">
                  <a:srgbClr val="FFFFFF">
                    <a:alpha val="0"/>
                  </a:srgbClr>
                </a:gs>
              </a:gsLst>
              <a:lin ang="19680000" scaled="1"/>
            </a:gradFill>
            <a:prstDash val="solid"/>
          </a:ln>
        </p:spPr>
      </p:sp>
      <p:sp>
        <p:nvSpPr>
          <p:cNvPr id="16" name="Text 13"/>
          <p:cNvSpPr/>
          <p:nvPr/>
        </p:nvSpPr>
        <p:spPr>
          <a:xfrm rot="10800000">
            <a:off x="1851660" y="4380865"/>
            <a:ext cx="386080" cy="772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10800000" flipH="1">
            <a:off x="2235835" y="4380865"/>
            <a:ext cx="386080" cy="772160"/>
          </a:xfrm>
          <a:custGeom>
            <a:avLst/>
            <a:gdLst/>
            <a:ahLst/>
            <a:cxnLst/>
            <a:rect l="l" t="t" r="r" b="b"/>
            <a:pathLst>
              <a:path w="386080" h="772160">
                <a:moveTo>
                  <a:pt x="0" y="671399"/>
                </a:moveTo>
                <a:lnTo>
                  <a:pt x="0" y="0"/>
                </a:lnTo>
                <a:lnTo>
                  <a:pt x="386080" y="772160"/>
                </a:lnTo>
                <a:lnTo>
                  <a:pt x="0" y="671399"/>
                </a:lnTo>
                <a:close/>
              </a:path>
            </a:pathLst>
          </a:custGeom>
          <a:gradFill flip="none" rotWithShape="1">
            <a:gsLst>
              <a:gs pos="7000">
                <a:srgbClr val="342390"/>
              </a:gs>
              <a:gs pos="100000">
                <a:srgbClr val="A195E5">
                  <a:alpha val="0"/>
                </a:srgbClr>
              </a:gs>
            </a:gsLst>
            <a:lin ang="19200000" scaled="1"/>
          </a:gradFill>
          <a:ln w="6350">
            <a:gradFill flip="none" rotWithShape="1">
              <a:gsLst>
                <a:gs pos="0">
                  <a:srgbClr val="FFFFFF"/>
                </a:gs>
                <a:gs pos="54000">
                  <a:srgbClr val="FFFFFF">
                    <a:alpha val="0"/>
                  </a:srgbClr>
                </a:gs>
              </a:gsLst>
              <a:lin ang="18120000" scaled="1"/>
            </a:gradFill>
            <a:prstDash val="solid"/>
          </a:ln>
        </p:spPr>
      </p:sp>
      <p:sp>
        <p:nvSpPr>
          <p:cNvPr id="18" name="Text 15"/>
          <p:cNvSpPr/>
          <p:nvPr/>
        </p:nvSpPr>
        <p:spPr>
          <a:xfrm rot="10800000">
            <a:off x="2235835" y="4380865"/>
            <a:ext cx="386080" cy="772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851660" y="4280535"/>
            <a:ext cx="770255" cy="201295"/>
          </a:xfrm>
          <a:prstGeom prst="flowChartDecision">
            <a:avLst/>
          </a:prstGeom>
          <a:gradFill flip="none" rotWithShape="1">
            <a:gsLst>
              <a:gs pos="9000">
                <a:srgbClr val="312189"/>
              </a:gs>
              <a:gs pos="100000">
                <a:srgbClr val="725FD8"/>
              </a:gs>
            </a:gsLst>
            <a:lin ang="16200000" scaled="1"/>
          </a:gradFill>
        </p:spPr>
      </p:sp>
      <p:sp>
        <p:nvSpPr>
          <p:cNvPr id="20" name="Text 17"/>
          <p:cNvSpPr/>
          <p:nvPr/>
        </p:nvSpPr>
        <p:spPr>
          <a:xfrm>
            <a:off x="1851660" y="4280535"/>
            <a:ext cx="770255" cy="2012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10800000">
            <a:off x="873125" y="3141345"/>
            <a:ext cx="1367790" cy="2740025"/>
          </a:xfrm>
          <a:custGeom>
            <a:avLst/>
            <a:gdLst/>
            <a:ahLst/>
            <a:cxnLst/>
            <a:rect l="l" t="t" r="r" b="b"/>
            <a:pathLst>
              <a:path w="1367790" h="2740025">
                <a:moveTo>
                  <a:pt x="0" y="2382471"/>
                </a:moveTo>
                <a:lnTo>
                  <a:pt x="0" y="0"/>
                </a:lnTo>
                <a:lnTo>
                  <a:pt x="1367790" y="2740025"/>
                </a:lnTo>
                <a:lnTo>
                  <a:pt x="0" y="2382471"/>
                </a:lnTo>
                <a:close/>
              </a:path>
            </a:pathLst>
          </a:custGeom>
          <a:gradFill flip="none" rotWithShape="1">
            <a:gsLst>
              <a:gs pos="7000">
                <a:srgbClr val="3C29A8"/>
              </a:gs>
              <a:gs pos="100000">
                <a:srgbClr val="A195E5">
                  <a:alpha val="0"/>
                </a:srgbClr>
              </a:gs>
            </a:gsLst>
            <a:lin ang="17700000" scaled="1"/>
          </a:gradFill>
          <a:ln w="15875">
            <a:gradFill flip="none" rotWithShape="1">
              <a:gsLst>
                <a:gs pos="0">
                  <a:srgbClr val="FFFFFF"/>
                </a:gs>
                <a:gs pos="43000">
                  <a:srgbClr val="FFFFFF">
                    <a:alpha val="0"/>
                  </a:srgbClr>
                </a:gs>
              </a:gsLst>
              <a:lin ang="19680000" scaled="1"/>
            </a:gradFill>
            <a:prstDash val="solid"/>
          </a:ln>
        </p:spPr>
      </p:sp>
      <p:sp>
        <p:nvSpPr>
          <p:cNvPr id="22" name="Text 19"/>
          <p:cNvSpPr/>
          <p:nvPr/>
        </p:nvSpPr>
        <p:spPr>
          <a:xfrm rot="10800000">
            <a:off x="873125" y="3141345"/>
            <a:ext cx="1367790" cy="27400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 rot="10800000" flipH="1">
            <a:off x="2235835" y="3141345"/>
            <a:ext cx="1367790" cy="2740025"/>
          </a:xfrm>
          <a:custGeom>
            <a:avLst/>
            <a:gdLst/>
            <a:ahLst/>
            <a:cxnLst/>
            <a:rect l="l" t="t" r="r" b="b"/>
            <a:pathLst>
              <a:path w="1367790" h="2740025">
                <a:moveTo>
                  <a:pt x="0" y="2382471"/>
                </a:moveTo>
                <a:lnTo>
                  <a:pt x="0" y="0"/>
                </a:lnTo>
                <a:lnTo>
                  <a:pt x="1367790" y="2740025"/>
                </a:lnTo>
                <a:lnTo>
                  <a:pt x="0" y="2382471"/>
                </a:lnTo>
                <a:close/>
              </a:path>
            </a:pathLst>
          </a:custGeom>
          <a:gradFill flip="none" rotWithShape="1">
            <a:gsLst>
              <a:gs pos="7000">
                <a:srgbClr val="342390"/>
              </a:gs>
              <a:gs pos="100000">
                <a:srgbClr val="A195E5">
                  <a:alpha val="0"/>
                </a:srgbClr>
              </a:gs>
            </a:gsLst>
            <a:lin ang="19200000" scaled="1"/>
          </a:gradFill>
          <a:ln w="15875">
            <a:gradFill flip="none" rotWithShape="1">
              <a:gsLst>
                <a:gs pos="0">
                  <a:srgbClr val="FFFFFF"/>
                </a:gs>
                <a:gs pos="54000">
                  <a:srgbClr val="FFFFFF">
                    <a:alpha val="0"/>
                  </a:srgbClr>
                </a:gs>
              </a:gsLst>
              <a:lin ang="18120000" scaled="1"/>
            </a:gradFill>
            <a:prstDash val="solid"/>
          </a:ln>
        </p:spPr>
      </p:sp>
      <p:sp>
        <p:nvSpPr>
          <p:cNvPr id="24" name="Text 21"/>
          <p:cNvSpPr/>
          <p:nvPr/>
        </p:nvSpPr>
        <p:spPr>
          <a:xfrm rot="10800000">
            <a:off x="2235835" y="3141345"/>
            <a:ext cx="1367790" cy="27400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626235" y="5902325"/>
            <a:ext cx="1226820" cy="219710"/>
          </a:xfrm>
          <a:prstGeom prst="ellipse">
            <a:avLst/>
          </a:prstGeom>
          <a:solidFill>
            <a:srgbClr val="725FD8">
              <a:alpha val="20000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1626235" y="5902325"/>
            <a:ext cx="1226820" cy="2197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73125" y="2785110"/>
            <a:ext cx="2730500" cy="713740"/>
          </a:xfrm>
          <a:prstGeom prst="flowChartDecision">
            <a:avLst/>
          </a:prstGeom>
          <a:gradFill flip="none" rotWithShape="1">
            <a:gsLst>
              <a:gs pos="9000">
                <a:srgbClr val="312189"/>
              </a:gs>
              <a:gs pos="100000">
                <a:srgbClr val="725FD8"/>
              </a:gs>
            </a:gsLst>
            <a:lin ang="16200000" scaled="1"/>
          </a:gradFill>
        </p:spPr>
      </p:sp>
      <p:sp>
        <p:nvSpPr>
          <p:cNvPr id="28" name="Text 25"/>
          <p:cNvSpPr/>
          <p:nvPr/>
        </p:nvSpPr>
        <p:spPr>
          <a:xfrm>
            <a:off x="873125" y="2785110"/>
            <a:ext cx="2730500" cy="7137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 rot="720000">
            <a:off x="502285" y="3789680"/>
            <a:ext cx="3438525" cy="1009650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gradFill flip="none" rotWithShape="1">
              <a:gsLst>
                <a:gs pos="0">
                  <a:srgbClr val="725FD8"/>
                </a:gs>
                <a:gs pos="81000">
                  <a:srgbClr val="342390">
                    <a:alpha val="0"/>
                  </a:srgbClr>
                </a:gs>
              </a:gsLst>
              <a:lin ang="16140000" scaled="1"/>
            </a:gradFill>
            <a:prstDash val="solid"/>
          </a:ln>
        </p:spPr>
      </p:sp>
      <p:sp>
        <p:nvSpPr>
          <p:cNvPr id="30" name="Text 27"/>
          <p:cNvSpPr/>
          <p:nvPr/>
        </p:nvSpPr>
        <p:spPr>
          <a:xfrm rot="720000">
            <a:off x="502285" y="3789680"/>
            <a:ext cx="3438525" cy="1009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 rot="20640000" flipV="1">
            <a:off x="542925" y="3788410"/>
            <a:ext cx="3438525" cy="1009650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gradFill flip="none" rotWithShape="1">
              <a:gsLst>
                <a:gs pos="19000">
                  <a:srgbClr val="342390">
                    <a:alpha val="0"/>
                  </a:srgbClr>
                </a:gs>
                <a:gs pos="100000">
                  <a:srgbClr val="725FD8"/>
                </a:gs>
              </a:gsLst>
              <a:lin ang="16200000" scaled="1"/>
            </a:gradFill>
            <a:prstDash val="solid"/>
          </a:ln>
        </p:spPr>
      </p:sp>
      <p:sp>
        <p:nvSpPr>
          <p:cNvPr id="32" name="Text 29"/>
          <p:cNvSpPr/>
          <p:nvPr/>
        </p:nvSpPr>
        <p:spPr>
          <a:xfrm rot="20640000">
            <a:off x="542925" y="3788410"/>
            <a:ext cx="3438525" cy="1009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996440" y="5946775"/>
            <a:ext cx="486410" cy="129540"/>
          </a:xfrm>
          <a:prstGeom prst="ellipse">
            <a:avLst/>
          </a:prstGeom>
          <a:solidFill>
            <a:srgbClr val="8979DF">
              <a:alpha val="50196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1996440" y="5946775"/>
            <a:ext cx="486410" cy="1295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978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项目成果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713105" y="1908175"/>
            <a:ext cx="10631805" cy="1004570"/>
          </a:xfrm>
          <a:custGeom>
            <a:avLst/>
            <a:gdLst/>
            <a:ahLst/>
            <a:cxnLst/>
            <a:rect l="l" t="t" r="r" b="b"/>
            <a:pathLst>
              <a:path w="10631805" h="1004570">
                <a:moveTo>
                  <a:pt x="0" y="1004570"/>
                </a:moveTo>
                <a:cubicBezTo>
                  <a:pt x="273685" y="877589"/>
                  <a:pt x="850900" y="466171"/>
                  <a:pt x="1570990" y="395697"/>
                </a:cubicBezTo>
                <a:cubicBezTo>
                  <a:pt x="2291080" y="325222"/>
                  <a:pt x="2812415" y="730926"/>
                  <a:pt x="3601085" y="652198"/>
                </a:cubicBezTo>
                <a:cubicBezTo>
                  <a:pt x="4389755" y="573470"/>
                  <a:pt x="4488180" y="-24610"/>
                  <a:pt x="5513705" y="786"/>
                </a:cubicBezTo>
                <a:cubicBezTo>
                  <a:pt x="6539230" y="26182"/>
                  <a:pt x="7706360" y="671245"/>
                  <a:pt x="8729980" y="780449"/>
                </a:cubicBezTo>
                <a:cubicBezTo>
                  <a:pt x="9753600" y="889652"/>
                  <a:pt x="10315575" y="608390"/>
                  <a:pt x="10631805" y="545534"/>
                </a:cubicBezTo>
              </a:path>
            </a:pathLst>
          </a:custGeom>
          <a:solidFill>
            <a:srgbClr val="000000">
              <a:alpha val="0"/>
            </a:srgbClr>
          </a:solidFill>
          <a:ln w="28575">
            <a:solidFill>
              <a:srgbClr val="7702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105" y="1908175"/>
            <a:ext cx="10631805" cy="1004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2004695" y="2007235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004695" y="2007235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991360" y="2143125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5772785" y="1570990"/>
            <a:ext cx="637540" cy="638175"/>
          </a:xfrm>
          <a:prstGeom prst="ellipse">
            <a:avLst/>
          </a:prstGeom>
          <a:gradFill flip="none" rotWithShape="1">
            <a:gsLst>
              <a:gs pos="10000">
                <a:srgbClr val="725FD8"/>
              </a:gs>
              <a:gs pos="56000">
                <a:srgbClr val="271A6C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342390">
                <a:alpha val="6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72785" y="1570990"/>
            <a:ext cx="637540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5746115" y="1737360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9540240" y="2394585"/>
            <a:ext cx="637540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540240" y="2394585"/>
            <a:ext cx="637540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9526270" y="2560955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659130" y="3448685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数据融合精度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668971" y="3830955"/>
            <a:ext cx="3470913" cy="148907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系统在数据融合精度方面存在不足。当前多传感器数据一致性欠佳，采集数据易受环境干扰，融合后数据与真实状态有偏差，影响决策准确性。未来需引入数据校准算法与滤波技术，优化融合模型，提升数据可靠性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4408805" y="2708910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设备功耗优化</a:t>
            </a:r>
            <a:endParaRPr lang="en-US" sz="1600" dirty="0"/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4452303" y="3091814"/>
            <a:ext cx="3403600" cy="176847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设备功耗较高，尤其在频繁采集和通信时，续航能力受限，增加了使用成本。低功耗模式下性能表现不佳，存在响应延迟。未来将从硬件选型、电源管理和软件优化入手，采用低功耗芯片，优化电源策略，减少能耗，延长续航时间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8157687" y="3430270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复杂环境适应性</a:t>
            </a:r>
            <a:endParaRPr lang="en-US" sz="1600" dirty="0"/>
          </a:p>
        </p:txBody>
      </p:sp>
      <p:sp>
        <p:nvSpPr>
          <p:cNvPr id="21" name="Text 18"/>
          <p:cNvSpPr/>
          <p:nvPr>
            <p:custDataLst>
              <p:tags r:id="rId14"/>
            </p:custDataLst>
          </p:nvPr>
        </p:nvSpPr>
        <p:spPr>
          <a:xfrm>
            <a:off x="8201184" y="3813176"/>
            <a:ext cx="3403600" cy="176847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系统在复杂环境下的稳定性和可靠性有待提升。高温高湿、强光照等环境会使传感器性能下降，数据采集不准确，且自适应能力较弱。未来需改进传感器封装，优化算法抗干扰能力，增强自适应调节机制，以适应复杂环境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46863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项目不足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7540" y="1656080"/>
            <a:ext cx="11016615" cy="177292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7540" y="1656080"/>
            <a:ext cx="11016615" cy="16186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2119" y="2156460"/>
            <a:ext cx="10341056" cy="1046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未来将重点解决当前系统在数据融合精度、设备功耗优化及复杂环境适应性等方面存在的问题。通过引入先进的深度学习算法，优化环境预测模型，提升数据处理的准确性和效率。同时，探索低功耗通信技术，如采用节能的无线通信协议和优化的电源管理方案，以延长设备的续航能力。此外，针对复杂环境的适应性，将增强系统的抗干扰能力和稳定性，确保在不同光照、温湿度等条件下都能稳定运行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91804" y="1656080"/>
            <a:ext cx="10424875" cy="5969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技术优化</a:t>
            </a: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48425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8425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6804748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市场推广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6804660" y="4137025"/>
            <a:ext cx="4849495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重点针对家庭园艺爱好者和小型农业种植者进行精准营销。通过线上线下相结合的方式，举办产品体验活动和技术讲座，展示系统的智能化和便捷性。同时，与园艺用品经销商、农业合作社等建立合作关系，拓展销售渠道。此外，利用社交媒体和电商平台进行宣传推广，吸引更多潜在用户，推动产品在家庭园艺和小型农业领域的广泛应用。</a:t>
            </a: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。</a:t>
            </a:r>
            <a:endParaRPr lang="en-US" sz="1600" dirty="0"/>
          </a:p>
        </p:txBody>
      </p:sp>
      <p:sp>
        <p:nvSpPr>
          <p:cNvPr id="13" name="Shape 10"/>
          <p:cNvSpPr/>
          <p:nvPr>
            <p:custDataLst>
              <p:tags r:id="rId5"/>
            </p:custDataLst>
          </p:nvPr>
        </p:nvSpPr>
        <p:spPr>
          <a:xfrm>
            <a:off x="637540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540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993863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功能拓展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993775" y="4137025"/>
            <a:ext cx="4848860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系统将结合物联网技术实现远程集中管理功能，用户可以通过手机或电脑远程监控和控制盆栽养护设备，实时获取盆栽生长环境数据并进行调整。同时，进一步完善智能决策算法，增加更多植物生长模型，使其能够适应更多种类的盆栽植物。此外，还将开发数据分析与可视化功能，为用户提供详细的生长记录和趋势分析，帮助用户更好地了解植物生长状态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055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未来展望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55-d0shoms75iks832je3m0.png"/>
          <p:cNvPicPr>
            <a:picLocks noChangeAspect="1"/>
          </p:cNvPicPr>
          <p:nvPr/>
        </p:nvPicPr>
        <p:blipFill>
          <a:blip r:embed="rId2"/>
          <a:srcRect l="9575" t="9913" r="3636" b="15542"/>
          <a:stretch>
            <a:fillRect/>
          </a:stretch>
        </p:blipFill>
        <p:spPr>
          <a:xfrm>
            <a:off x="-1905" y="-6985"/>
            <a:ext cx="12205335" cy="68948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8453" y="2387918"/>
            <a:ext cx="6475095" cy="12342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感谢观看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61840" y="4410710"/>
            <a:ext cx="190246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汇报人：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陈前</a:t>
            </a:r>
            <a:r>
              <a:rPr lang="en-US" altLang="zh-CN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卢治宇</a:t>
            </a:r>
            <a:r>
              <a:rPr lang="en-US" altLang="zh-CN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</a:t>
            </a:r>
            <a:endParaRPr lang="en-US" altLang="zh-CN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晏于吉</a:t>
            </a:r>
            <a:r>
              <a:rPr lang="en-US" altLang="zh-CN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王博</a:t>
            </a:r>
            <a:r>
              <a:rPr lang="en-US" altLang="zh-CN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明新愉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656705" y="4410710"/>
            <a:ext cx="307594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汇报日期：2025.06.23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320155" y="441071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0" name="Text 6"/>
          <p:cNvSpPr/>
          <p:nvPr/>
        </p:nvSpPr>
        <p:spPr>
          <a:xfrm>
            <a:off x="6320155" y="441071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166870" y="441071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2" name="Text 8"/>
          <p:cNvSpPr/>
          <p:nvPr/>
        </p:nvSpPr>
        <p:spPr>
          <a:xfrm>
            <a:off x="4166870" y="441071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7355" y="297180"/>
            <a:ext cx="19151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2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3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4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5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6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7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8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9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0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1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2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3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4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5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6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7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8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9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0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1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2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3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4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5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6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7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8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9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30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31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32.xml><?xml version="1.0" encoding="utf-8"?>
<p:tagLst xmlns:p="http://schemas.openxmlformats.org/presentationml/2006/main">
  <p:tag name="KSO_WM_DIAGRAM_VIRTUALLY_FRAME" val="{&quot;height&quot;:191.75,&quot;left&quot;:50.2,&quot;top&quot;:286.65,&quot;width&quot;:867.45}"/>
</p:tagLst>
</file>

<file path=ppt/tags/tag33.xml><?xml version="1.0" encoding="utf-8"?>
<p:tagLst xmlns:p="http://schemas.openxmlformats.org/presentationml/2006/main">
  <p:tag name="KSO_WM_DIAGRAM_VIRTUALLY_FRAME" val="{&quot;height&quot;:191.75,&quot;left&quot;:50.2,&quot;top&quot;:286.65,&quot;width&quot;:867.45}"/>
</p:tagLst>
</file>

<file path=ppt/tags/tag34.xml><?xml version="1.0" encoding="utf-8"?>
<p:tagLst xmlns:p="http://schemas.openxmlformats.org/presentationml/2006/main">
  <p:tag name="KSO_WM_DIAGRAM_VIRTUALLY_FRAME" val="{&quot;height&quot;:191.75,&quot;left&quot;:50.2,&quot;top&quot;:286.65,&quot;width&quot;:867.45}"/>
</p:tagLst>
</file>

<file path=ppt/tags/tag35.xml><?xml version="1.0" encoding="utf-8"?>
<p:tagLst xmlns:p="http://schemas.openxmlformats.org/presentationml/2006/main">
  <p:tag name="KSO_WM_DIAGRAM_VIRTUALLY_FRAME" val="{&quot;height&quot;:191.75,&quot;left&quot;:50.2,&quot;top&quot;:286.65,&quot;width&quot;:867.45}"/>
</p:tagLst>
</file>

<file path=ppt/tags/tag36.xml><?xml version="1.0" encoding="utf-8"?>
<p:tagLst xmlns:p="http://schemas.openxmlformats.org/presentationml/2006/main">
  <p:tag name="KSO_WM_DIAGRAM_VIRTUALLY_FRAME" val="{&quot;height&quot;:191.75,&quot;left&quot;:50.2,&quot;top&quot;:286.65,&quot;width&quot;:867.45}"/>
</p:tagLst>
</file>

<file path=ppt/tags/tag37.xml><?xml version="1.0" encoding="utf-8"?>
<p:tagLst xmlns:p="http://schemas.openxmlformats.org/presentationml/2006/main">
  <p:tag name="KSO_WM_DIAGRAM_VIRTUALLY_FRAME" val="{&quot;height&quot;:191.75,&quot;left&quot;:50.2,&quot;top&quot;:286.65,&quot;width&quot;:867.45}"/>
</p:tagLst>
</file>

<file path=ppt/tags/tag38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39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40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41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42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43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44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45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46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47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48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49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0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1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2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3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4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5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6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7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8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59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60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61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62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63.xml><?xml version="1.0" encoding="utf-8"?>
<p:tagLst xmlns:p="http://schemas.openxmlformats.org/presentationml/2006/main">
  <p:tag name="KSO_WM_DIAGRAM_VIRTUALLY_FRAME" val="{&quot;height&quot;:436.09094488188975,&quot;left&quot;:45.55,&quot;top&quot;:117.19999999999997,&quot;width&quot;:869.35}"/>
</p:tagLst>
</file>

<file path=ppt/tags/tag64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65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66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67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68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69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70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71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72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73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74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75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76.xml><?xml version="1.0" encoding="utf-8"?>
<p:tagLst xmlns:p="http://schemas.openxmlformats.org/presentationml/2006/main">
  <p:tag name="KSO_WM_DIAGRAM_VIRTUALLY_FRAME" val="{&quot;height&quot;:360.10007874015747,&quot;left&quot;:51.9,&quot;top&quot;:123.7,&quot;width&quot;:865.2875590551181}"/>
</p:tagLst>
</file>

<file path=ppt/tags/tag77.xml><?xml version="1.0" encoding="utf-8"?>
<p:tagLst xmlns:p="http://schemas.openxmlformats.org/presentationml/2006/main">
  <p:tag name="KSO_WM_DIAGRAM_VIRTUALLY_FRAME" val="{&quot;height&quot;:191.75,&quot;left&quot;:50.2,&quot;top&quot;:286.65,&quot;width&quot;:891.8}"/>
</p:tagLst>
</file>

<file path=ppt/tags/tag78.xml><?xml version="1.0" encoding="utf-8"?>
<p:tagLst xmlns:p="http://schemas.openxmlformats.org/presentationml/2006/main">
  <p:tag name="KSO_WM_DIAGRAM_VIRTUALLY_FRAME" val="{&quot;height&quot;:191.75,&quot;left&quot;:50.2,&quot;top&quot;:286.65,&quot;width&quot;:891.8}"/>
</p:tagLst>
</file>

<file path=ppt/tags/tag79.xml><?xml version="1.0" encoding="utf-8"?>
<p:tagLst xmlns:p="http://schemas.openxmlformats.org/presentationml/2006/main">
  <p:tag name="KSO_WM_DIAGRAM_VIRTUALLY_FRAME" val="{&quot;height&quot;:191.75,&quot;left&quot;:50.2,&quot;top&quot;:286.65,&quot;width&quot;:891.8}"/>
</p:tagLst>
</file>

<file path=ppt/tags/tag80.xml><?xml version="1.0" encoding="utf-8"?>
<p:tagLst xmlns:p="http://schemas.openxmlformats.org/presentationml/2006/main">
  <p:tag name="KSO_WM_DIAGRAM_VIRTUALLY_FRAME" val="{&quot;height&quot;:191.75,&quot;left&quot;:50.2,&quot;top&quot;:286.65,&quot;width&quot;:891.8}"/>
</p:tagLst>
</file>

<file path=ppt/tags/tag81.xml><?xml version="1.0" encoding="utf-8"?>
<p:tagLst xmlns:p="http://schemas.openxmlformats.org/presentationml/2006/main">
  <p:tag name="KSO_WM_DIAGRAM_VIRTUALLY_FRAME" val="{&quot;height&quot;:191.75,&quot;left&quot;:50.2,&quot;top&quot;:286.65,&quot;width&quot;:891.8}"/>
</p:tagLst>
</file>

<file path=ppt/tags/tag82.xml><?xml version="1.0" encoding="utf-8"?>
<p:tagLst xmlns:p="http://schemas.openxmlformats.org/presentationml/2006/main">
  <p:tag name="KSO_WM_DIAGRAM_VIRTUALLY_FRAME" val="{&quot;height&quot;:191.75,&quot;left&quot;:50.2,&quot;top&quot;:286.65,&quot;width&quot;:891.8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E0447"/>
      </a:accent1>
      <a:accent2>
        <a:srgbClr val="342390"/>
      </a:accent2>
      <a:accent3>
        <a:srgbClr val="E34A6E"/>
      </a:accent3>
      <a:accent4>
        <a:srgbClr val="091642"/>
      </a:accent4>
      <a:accent5>
        <a:srgbClr val="6349A8"/>
      </a:accent5>
      <a:accent6>
        <a:srgbClr val="060E2F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E0447"/>
      </a:accent1>
      <a:accent2>
        <a:srgbClr val="342390"/>
      </a:accent2>
      <a:accent3>
        <a:srgbClr val="E34A6E"/>
      </a:accent3>
      <a:accent4>
        <a:srgbClr val="091642"/>
      </a:accent4>
      <a:accent5>
        <a:srgbClr val="6349A8"/>
      </a:accent5>
      <a:accent6>
        <a:srgbClr val="060E2F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4930</Words>
  <Application>WPS 演示</Application>
  <PresentationFormat>On-screen Show (16:9)</PresentationFormat>
  <Paragraphs>333</Paragraphs>
  <Slides>27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Wingdings</vt:lpstr>
      <vt:lpstr>MiSans</vt:lpstr>
      <vt:lpstr>等线</vt:lpstr>
      <vt:lpstr>Calibri</vt:lpstr>
      <vt:lpstr>微软雅黑</vt:lpstr>
      <vt:lpstr>Arial Unicode MS</vt:lpstr>
      <vt:lpstr>MiSans ExtraLight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王博</cp:lastModifiedBy>
  <cp:revision>8</cp:revision>
  <dcterms:created xsi:type="dcterms:W3CDTF">2025-06-22T08:54:00Z</dcterms:created>
  <dcterms:modified xsi:type="dcterms:W3CDTF">2025-06-23T08:43:00Z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07311FDECCD24374A786EB1BB53A55F8_13</vt:lpwstr>
  </property>
  <property fmtid="{D5CDD505-2E9C-101B-9397-08002B2CF9AE}" pid="3" name="KSOProductBuildVer">
    <vt:lpwstr>2052-12.1.0.21541</vt:lpwstr>
  </property>
</Properties>
</file>